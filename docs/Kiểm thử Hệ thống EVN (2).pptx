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embeddedFontLst>
    <p:embeddedFont>
      <p:font typeface="Inter" panose="02000503000000020004" pitchFamily="50" charset="0"/>
      <p:regular r:id="rId15"/>
      <p:bold r:id="rId16"/>
      <p:italic r:id="rId17"/>
      <p:boldItalic r:id="rId18"/>
    </p:embeddedFont>
    <p:embeddedFont>
      <p:font typeface="Space Grotesk" pitchFamily="2" charset="0"/>
      <p:regular r:id="rId19"/>
      <p:bold r:id="rId2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487" autoAdjust="0"/>
  </p:normalViewPr>
  <p:slideViewPr>
    <p:cSldViewPr snapToGrid="0" snapToObjects="1">
      <p:cViewPr varScale="1">
        <p:scale>
          <a:sx n="123" d="100"/>
          <a:sy n="123" d="100"/>
        </p:scale>
        <p:origin x="169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1CF0DF-9E48-4796-A52A-732A45960714}" type="datetimeFigureOut">
              <a:rPr lang="en-US" smtClean="0"/>
              <a:t>10/23/2026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E46A25-E217-42DB-BE17-65A038B23A5C}" type="slidenum">
              <a:rPr lang="en-US" smtClean="0"/>
              <a:t>‹#›</a:t>
            </a:fld>
            <a:endParaRPr lang="en-US"/>
          </a:p>
        </p:txBody>
      </p:sp>
    </p:spTree>
    <p:extLst>
      <p:ext uri="{BB962C8B-B14F-4D97-AF65-F5344CB8AC3E}">
        <p14:creationId xmlns:p14="http://schemas.microsoft.com/office/powerpoint/2010/main" val="1982019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"Kính chào thầy cô và các bạn. Hôm nay, nhóm chúng em xin đại diện trình bày báo cáo kiểm thử toàn diện cho đề tài **'Hệ Thống Tra Cứu Tiền Điện &amp; Quản Trị Biểu Giá EVN'**. Đề tài của chúng em tập trung vào việc đảm bảo tính chính xác tuyệt đối của thuật toán tính tiền điện lũy kế 6 bậc, kiểm định cơ chế bảo mật thông tin cá nhân 2 lớp, xác thực tích hợp thanh toán trực tuyến đa kênh và vận hành ổn định Trung tâm điều hành ngành điện trên tập dữ liệu lớn. Sau đây em xin phép đi vào chi tiết."</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1</a:t>
            </a:fld>
            <a:endParaRPr lang="en-US"/>
          </a:p>
        </p:txBody>
      </p:sp>
    </p:spTree>
    <p:extLst>
      <p:ext uri="{BB962C8B-B14F-4D97-AF65-F5344CB8AC3E}">
        <p14:creationId xmlns:p14="http://schemas.microsoft.com/office/powerpoint/2010/main" val="911156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"Hệ thống của chúng em phục vụ 2 nhóm người dùng chính: Khách hàng dùng điện và Quản trị viên ngành điện. Vì liên quan trực tiếp đến tiền bạc và dữ liệu cá nhân của người dân, mục tiêu kiểm thử của nhóm đặt ra 3 trọng tâm thiết yếu:*   </a:t>
            </a:r>
            <a:endParaRPr lang="en-US" dirty="0"/>
          </a:p>
          <a:p>
            <a:endParaRPr lang="en-US" dirty="0"/>
          </a:p>
          <a:p>
            <a:r>
              <a:rPr lang="vi-VN" dirty="0"/>
              <a:t>**Thứ nhất, Tính chính xác:** Độ chính xác tuyệt đối của thuật toán tính tiền điện theo bậc thang, khớp 100% với công thức của Bộ Công Thương.*   </a:t>
            </a:r>
            <a:endParaRPr lang="en-US" dirty="0"/>
          </a:p>
          <a:p>
            <a:endParaRPr lang="en-US" dirty="0"/>
          </a:p>
          <a:p>
            <a:r>
              <a:rPr lang="vi-VN" dirty="0"/>
              <a:t>**Thứ hai, Bảo mật:** Bảo vệ quyền riêng tư qua cơ chế xác thực số điện thoại 2 lớp, tuyệt đối không rò rỉ thông tin cá nhân.*   </a:t>
            </a:r>
            <a:endParaRPr lang="en-US" dirty="0"/>
          </a:p>
          <a:p>
            <a:endParaRPr lang="en-US" dirty="0"/>
          </a:p>
          <a:p>
            <a:r>
              <a:rPr lang="vi-VN" dirty="0"/>
              <a:t>**Thứ ba, Hiệu năng:** Đảm bảo hiệu năng xử lý nhanh, phản hồi API dưới 200ms, mượt mà khi tổng hợp số liệu thống kê lớn qua 49 kỳ hóa đơn."</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2</a:t>
            </a:fld>
            <a:endParaRPr lang="en-US"/>
          </a:p>
        </p:txBody>
      </p:sp>
    </p:spTree>
    <p:extLst>
      <p:ext uri="{BB962C8B-B14F-4D97-AF65-F5344CB8AC3E}">
        <p14:creationId xmlns:p14="http://schemas.microsoft.com/office/powerpoint/2010/main" val="15776427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"Về quy trình, nhóm tuân thủ nghiêm ngặt chuẩn quy trình kiểm định phần mềm với 7 mốc công việc rõ ràng.</a:t>
            </a:r>
            <a:endParaRPr lang="en-US" dirty="0"/>
          </a:p>
          <a:p>
            <a:endParaRPr lang="en-US" dirty="0"/>
          </a:p>
          <a:p>
            <a:r>
              <a:rPr lang="vi-VN" dirty="0"/>
              <a:t>Chúng em bắt đầu từ việc lập Kế hoạch kiểm thử (Test Plan) chi tiết, rà soát tài liệu đặc tả yêu cầu (SRS).</a:t>
            </a:r>
            <a:endParaRPr lang="en-US" dirty="0"/>
          </a:p>
          <a:p>
            <a:endParaRPr lang="en-US" dirty="0"/>
          </a:p>
          <a:p>
            <a:r>
              <a:rPr lang="vi-VN" dirty="0"/>
              <a:t>Từ đó, thiết kế chi tiết ma trận 41 ca kiểm thử, sau đó tự động hóa bằng code backend và thực hiện kiểm tra chéo (Peer Review) giữa hai thành viên trước khi thực thi nghiệm thu toàn diện để đóng gói sản phẩm."</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3</a:t>
            </a:fld>
            <a:endParaRPr lang="en-US"/>
          </a:p>
        </p:txBody>
      </p:sp>
    </p:spTree>
    <p:extLst>
      <p:ext uri="{BB962C8B-B14F-4D97-AF65-F5344CB8AC3E}">
        <p14:creationId xmlns:p14="http://schemas.microsoft.com/office/powerpoint/2010/main" val="2807341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"Để đạt được các mục tiêu trên, nhóm kết hợp đa dạng các kỹ thuật kiểm thử.</a:t>
            </a:r>
            <a:endParaRPr lang="en-US" dirty="0"/>
          </a:p>
          <a:p>
            <a:endParaRPr lang="en-US" dirty="0"/>
          </a:p>
          <a:p>
            <a:r>
              <a:rPr lang="vi-VN" dirty="0"/>
              <a:t>Với **Hộp đen**, kỹ thuật Phân tích Giá trị biên (BVA) được dùng triệt để tại các mốc nhảy bậc điện như 50, 100, 200 kWh để đảm bảo không bao giờ bị lệch dù chỉ 1 đồng tiền điện. Kỹ thuật Phân vùng tương đương (EP) áp dụng cho việc nhập mã khách hàng và số điện thoại.</a:t>
            </a:r>
            <a:endParaRPr lang="en-US" dirty="0"/>
          </a:p>
          <a:p>
            <a:endParaRPr lang="en-US" dirty="0"/>
          </a:p>
          <a:p>
            <a:r>
              <a:rPr lang="vi-VN" dirty="0"/>
              <a:t>Bên cạnh đó, chúng em dùng **Hộp trắng** để kiểm tra độ bao phủ nhánh của mã nguồn hàm tính toán, và thực hiện kiểm thử bảo mật API trực tiếp bằng các công cụ dòng lệnh như cURL."</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4</a:t>
            </a:fld>
            <a:endParaRPr lang="en-US"/>
          </a:p>
        </p:txBody>
      </p:sp>
    </p:spTree>
    <p:extLst>
      <p:ext uri="{BB962C8B-B14F-4D97-AF65-F5344CB8AC3E}">
        <p14:creationId xmlns:p14="http://schemas.microsoft.com/office/powerpoint/2010/main" val="33654156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"Tổng cộng, kiến trúc kiểm thử của chúng em bao gồm 41 ca kiểm thử, bao quát toàn bộ 2 phân hệ Khách hàng và Quản trị. Trong đó, có 24 ca được tự động hóa hoàn toàn qua code và 17 ca kiểm thử thủ công để đảm bảo trải nghiệm người dùng thực tế trên giao diện. Tỷ lệ vượt qua (Passed) đạt 100%, hệ thống không còn bất kỳ lỗi nghiêm trọng nào."</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5</a:t>
            </a:fld>
            <a:endParaRPr lang="en-US"/>
          </a:p>
        </p:txBody>
      </p:sp>
    </p:spTree>
    <p:extLst>
      <p:ext uri="{BB962C8B-B14F-4D97-AF65-F5344CB8AC3E}">
        <p14:creationId xmlns:p14="http://schemas.microsoft.com/office/powerpoint/2010/main" val="2167591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"Đi vào chi tiết tại Cổng khách hàng, điểm sáng nhất mà nhóm đã kiểm thử thành công là tính năng bảo vệ thông tin cá nhân 2 lớp.</a:t>
            </a:r>
            <a:endParaRPr lang="en-US" dirty="0"/>
          </a:p>
          <a:p>
            <a:endParaRPr lang="en-US" dirty="0"/>
          </a:p>
          <a:p>
            <a:r>
              <a:rPr lang="vi-VN" dirty="0"/>
              <a:t>Khi một người lạ chỉ biết mã khách hàng (ví dụ KH0001), họ tra cứu thì hệ thống sẽ ẩn danh hoàn toàn, chỉ cho xem số tiền của tháng gần nhất; số điện thoại, địa chỉ hay mã công tơ bị giấu đi cả trên giao diện lẫn trong API backend. Chỉ khi nhập đúng số điện thoại chính chủ thì toàn bộ lịch sử 4 năm và tab biểu đồ mới được mở khóa. Nhóm đã viết cả unit test cho API lẫn kiểm tra giao diện để chứng minh không thể vượt rào bảo mật này."</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6</a:t>
            </a:fld>
            <a:endParaRPr lang="en-US"/>
          </a:p>
        </p:txBody>
      </p:sp>
    </p:spTree>
    <p:extLst>
      <p:ext uri="{BB962C8B-B14F-4D97-AF65-F5344CB8AC3E}">
        <p14:creationId xmlns:p14="http://schemas.microsoft.com/office/powerpoint/2010/main" val="7101526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"Chuyển sang phân hệ Quản trị viên, chúng em tập trung kiểm định các chức năng Quản lý dữ liệu (CRUD) và tính toán động. Quản trị viên có thể tìm kiếm khách hàng thông minh (hỗ trợ tiếng Việt có dấu), cấu hình điều chỉnh đơn giá bậc 1 hoặc thay đổi thuế VAT, và hệ thống phải ngay lập tức tính toán lại chính xác trên hóa đơn.</a:t>
            </a:r>
            <a:endParaRPr lang="en-US" dirty="0"/>
          </a:p>
          <a:p>
            <a:endParaRPr lang="en-US" dirty="0"/>
          </a:p>
          <a:p>
            <a:r>
              <a:rPr lang="vi-VN" dirty="0"/>
              <a:t>Các bài Unit Test cho thuật toán tính tiền 6 bậc được kiểm chứng độc lập, đối soát từng số lẻ, từng đồng thuế VAT với hóa đơn thực tế của Tập đoàn Điện lực Việt Nam, đảm bảo tính đúng đắn tuyệt đối."</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7</a:t>
            </a:fld>
            <a:endParaRPr lang="en-US"/>
          </a:p>
        </p:txBody>
      </p:sp>
    </p:spTree>
    <p:extLst>
      <p:ext uri="{BB962C8B-B14F-4D97-AF65-F5344CB8AC3E}">
        <p14:creationId xmlns:p14="http://schemas.microsoft.com/office/powerpoint/2010/main" val="25303516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"Một tính năng vượt trội khác trong đồ án là Trung tâm điều hành ngành điện (Dashboard). Với cơ sở dữ liệu lớn mô phỏng gồm hơn 27 nghìn bản ghi chỉ số qua 49 kỳ, API Dashboard của chúng em đã vượt qua bài test hiệu năng: tính toán tổng hợp 5 chỉ số Bento KPI và vẽ mượt mà 4 biểu đồ phân tích trực quan. Nhóm cũng đã kiểm thử thành công luồng drill-down xem chi tiết từng kỳ và lọc ra Top 20 khách hàng nợ cước lớn nhất để phục vụ công tác điều hành."</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8</a:t>
            </a:fld>
            <a:endParaRPr lang="en-US"/>
          </a:p>
        </p:txBody>
      </p:sp>
    </p:spTree>
    <p:extLst>
      <p:ext uri="{BB962C8B-B14F-4D97-AF65-F5344CB8AC3E}">
        <p14:creationId xmlns:p14="http://schemas.microsoft.com/office/powerpoint/2010/main" val="11232402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"Về mảng thanh toán, chúng em kiểm thử tích hợp cổng thanh toán thực tế phổ biến tại Việt Nam là PayOS VietQR, đảm bảo đầy đủ mã băm an toàn HMAC-SHA512.</a:t>
            </a:r>
            <a:endParaRPr lang="en-US" dirty="0"/>
          </a:p>
          <a:p>
            <a:endParaRPr lang="en-US" dirty="0"/>
          </a:p>
          <a:p>
            <a:r>
              <a:rPr lang="vi-VN" dirty="0"/>
              <a:t>Về mặt giao diện, chúng em kiểm định nghiêm ngặt tính nhất quán của phong cách Flat UI tối giản, các con số tài chính được căn gióng thẳng hàng chuẩn mực bằng font kỹ thuật JetBrains Mono, cùng hệ thống màu pastel báo hiệu trạng thái thanh toán trực quan."</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9</a:t>
            </a:fld>
            <a:endParaRPr lang="en-US"/>
          </a:p>
        </p:txBody>
      </p:sp>
    </p:spTree>
    <p:extLst>
      <p:ext uri="{BB962C8B-B14F-4D97-AF65-F5344CB8AC3E}">
        <p14:creationId xmlns:p14="http://schemas.microsoft.com/office/powerpoint/2010/main" val="2729850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"Điểm nhấn về mặt kỹ thuật của nhóm là không phụ thuộc vào các thư viện cồng kềnh như Jest. Chúng em sử dụng trực tiếp bộ Native Test Runner tích hợp sẵn của Node.js, giúp khởi động tức thì.</a:t>
            </a:r>
            <a:endParaRPr lang="en-US" dirty="0"/>
          </a:p>
          <a:p>
            <a:endParaRPr lang="en-US" dirty="0"/>
          </a:p>
          <a:p>
            <a:r>
              <a:rPr lang="vi-VN" dirty="0"/>
              <a:t>Toàn bộ mã kiểm thử được cấu trúc thành các module độc lập. Đặc biệt, nhóm đã xử lý thành công lỗi xung đột khóa cơ sở dữ liệu SQLite trên Windows bằng cách cấu hình concurrency, giúp toàn bộ 23 kịch bản test tự động chạy và hoàn tất chỉ trong khoảng 2.6 giây với kết quả 100% Passed."</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10</a:t>
            </a:fld>
            <a:endParaRPr lang="en-US"/>
          </a:p>
        </p:txBody>
      </p:sp>
    </p:spTree>
    <p:extLst>
      <p:ext uri="{BB962C8B-B14F-4D97-AF65-F5344CB8AC3E}">
        <p14:creationId xmlns:p14="http://schemas.microsoft.com/office/powerpoint/2010/main" val="16263634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Đối</a:t>
            </a:r>
            <a:r>
              <a:rPr lang="en-US" dirty="0"/>
              <a:t> </a:t>
            </a:r>
            <a:r>
              <a:rPr lang="en-US" dirty="0" err="1"/>
              <a:t>chiếu</a:t>
            </a:r>
            <a:r>
              <a:rPr lang="en-US" dirty="0"/>
              <a:t> </a:t>
            </a:r>
            <a:r>
              <a:rPr lang="en-US" dirty="0" err="1"/>
              <a:t>với</a:t>
            </a:r>
            <a:r>
              <a:rPr lang="en-US" dirty="0"/>
              <a:t> </a:t>
            </a:r>
            <a:r>
              <a:rPr lang="en-US" dirty="0" err="1"/>
              <a:t>tiêu</a:t>
            </a:r>
            <a:r>
              <a:rPr lang="en-US" dirty="0"/>
              <a:t> </a:t>
            </a:r>
            <a:r>
              <a:rPr lang="en-US" dirty="0" err="1"/>
              <a:t>chuẩn</a:t>
            </a:r>
            <a:r>
              <a:rPr lang="en-US" dirty="0"/>
              <a:t> </a:t>
            </a:r>
            <a:r>
              <a:rPr lang="en-US" dirty="0" err="1"/>
              <a:t>nghiệm</a:t>
            </a:r>
            <a:r>
              <a:rPr lang="en-US" dirty="0"/>
              <a:t> </a:t>
            </a:r>
            <a:r>
              <a:rPr lang="en-US" dirty="0" err="1"/>
              <a:t>thu</a:t>
            </a:r>
            <a:r>
              <a:rPr lang="en-US" dirty="0"/>
              <a:t> ban </a:t>
            </a:r>
            <a:r>
              <a:rPr lang="en-US" dirty="0" err="1"/>
              <a:t>đầu</a:t>
            </a:r>
            <a:r>
              <a:rPr lang="en-US" dirty="0"/>
              <a:t> </a:t>
            </a:r>
            <a:r>
              <a:rPr lang="en-US" dirty="0" err="1"/>
              <a:t>đề</a:t>
            </a:r>
            <a:r>
              <a:rPr lang="en-US" dirty="0"/>
              <a:t> </a:t>
            </a:r>
            <a:r>
              <a:rPr lang="en-US" dirty="0" err="1"/>
              <a:t>ra</a:t>
            </a:r>
            <a:r>
              <a:rPr lang="en-US" dirty="0"/>
              <a:t> </a:t>
            </a:r>
            <a:r>
              <a:rPr lang="en-US" dirty="0" err="1"/>
              <a:t>trong</a:t>
            </a:r>
            <a:r>
              <a:rPr lang="en-US" dirty="0"/>
              <a:t> Test Plan, </a:t>
            </a:r>
            <a:r>
              <a:rPr lang="en-US" dirty="0" err="1"/>
              <a:t>hệ</a:t>
            </a:r>
            <a:r>
              <a:rPr lang="en-US" dirty="0"/>
              <a:t> </a:t>
            </a:r>
            <a:r>
              <a:rPr lang="en-US" dirty="0" err="1"/>
              <a:t>thống</a:t>
            </a:r>
            <a:r>
              <a:rPr lang="en-US" dirty="0"/>
              <a:t> </a:t>
            </a:r>
            <a:r>
              <a:rPr lang="en-US" dirty="0" err="1"/>
              <a:t>đã</a:t>
            </a:r>
            <a:r>
              <a:rPr lang="en-US" dirty="0"/>
              <a:t> </a:t>
            </a:r>
            <a:r>
              <a:rPr lang="en-US" dirty="0" err="1"/>
              <a:t>đáp</a:t>
            </a:r>
            <a:r>
              <a:rPr lang="en-US" dirty="0"/>
              <a:t> </a:t>
            </a:r>
            <a:r>
              <a:rPr lang="en-US" dirty="0" err="1"/>
              <a:t>ứng</a:t>
            </a:r>
            <a:r>
              <a:rPr lang="en-US" dirty="0"/>
              <a:t> </a:t>
            </a:r>
            <a:r>
              <a:rPr lang="en-US" dirty="0" err="1"/>
              <a:t>hoàn</a:t>
            </a:r>
            <a:r>
              <a:rPr lang="en-US" dirty="0"/>
              <a:t> </a:t>
            </a:r>
            <a:r>
              <a:rPr lang="en-US" dirty="0" err="1"/>
              <a:t>hảo</a:t>
            </a:r>
            <a:r>
              <a:rPr lang="en-US" dirty="0"/>
              <a:t>: 100% ca </a:t>
            </a:r>
            <a:r>
              <a:rPr lang="en-US" dirty="0" err="1"/>
              <a:t>kiểm</a:t>
            </a:r>
            <a:r>
              <a:rPr lang="en-US" dirty="0"/>
              <a:t> </a:t>
            </a:r>
            <a:r>
              <a:rPr lang="en-US" dirty="0" err="1"/>
              <a:t>thử</a:t>
            </a:r>
            <a:r>
              <a:rPr lang="en-US" dirty="0"/>
              <a:t> passed, 0 </a:t>
            </a:r>
            <a:r>
              <a:rPr lang="en-US" dirty="0" err="1"/>
              <a:t>lỗi</a:t>
            </a:r>
            <a:r>
              <a:rPr lang="en-US" dirty="0"/>
              <a:t> </a:t>
            </a:r>
            <a:r>
              <a:rPr lang="en-US" dirty="0" err="1"/>
              <a:t>mức</a:t>
            </a:r>
            <a:r>
              <a:rPr lang="en-US" dirty="0"/>
              <a:t> </a:t>
            </a:r>
            <a:r>
              <a:rPr lang="en-US" dirty="0" err="1"/>
              <a:t>độ</a:t>
            </a:r>
            <a:r>
              <a:rPr lang="en-US" dirty="0"/>
              <a:t> Critical hay Major </a:t>
            </a:r>
            <a:r>
              <a:rPr lang="en-US" dirty="0" err="1"/>
              <a:t>tồn</a:t>
            </a:r>
            <a:r>
              <a:rPr lang="en-US" dirty="0"/>
              <a:t> </a:t>
            </a:r>
            <a:r>
              <a:rPr lang="en-US" dirty="0" err="1"/>
              <a:t>đọng</a:t>
            </a:r>
            <a:r>
              <a:rPr lang="en-US" dirty="0"/>
              <a:t>. </a:t>
            </a:r>
          </a:p>
          <a:p>
            <a:endParaRPr lang="en-US" dirty="0"/>
          </a:p>
          <a:p>
            <a:r>
              <a:rPr lang="en-US" dirty="0" err="1"/>
              <a:t>Hôm</a:t>
            </a:r>
            <a:r>
              <a:rPr lang="en-US" dirty="0"/>
              <a:t> nay, </a:t>
            </a:r>
            <a:r>
              <a:rPr lang="en-US" dirty="0" err="1"/>
              <a:t>nhóm</a:t>
            </a:r>
            <a:r>
              <a:rPr lang="en-US" dirty="0"/>
              <a:t> </a:t>
            </a:r>
            <a:r>
              <a:rPr lang="en-US" dirty="0" err="1"/>
              <a:t>chính</a:t>
            </a:r>
            <a:r>
              <a:rPr lang="en-US" dirty="0"/>
              <a:t> </a:t>
            </a:r>
            <a:r>
              <a:rPr lang="en-US" dirty="0" err="1"/>
              <a:t>thức</a:t>
            </a:r>
            <a:r>
              <a:rPr lang="en-US" dirty="0"/>
              <a:t> </a:t>
            </a:r>
            <a:r>
              <a:rPr lang="en-US" dirty="0" err="1"/>
              <a:t>bàn</a:t>
            </a:r>
            <a:r>
              <a:rPr lang="en-US" dirty="0"/>
              <a:t> </a:t>
            </a:r>
            <a:r>
              <a:rPr lang="en-US" dirty="0" err="1"/>
              <a:t>giao</a:t>
            </a:r>
            <a:r>
              <a:rPr lang="en-US" dirty="0"/>
              <a:t> </a:t>
            </a:r>
            <a:r>
              <a:rPr lang="en-US" dirty="0" err="1"/>
              <a:t>đầy</a:t>
            </a:r>
            <a:r>
              <a:rPr lang="en-US" dirty="0"/>
              <a:t> </a:t>
            </a:r>
            <a:r>
              <a:rPr lang="en-US" dirty="0" err="1"/>
              <a:t>đủ</a:t>
            </a:r>
            <a:r>
              <a:rPr lang="en-US" dirty="0"/>
              <a:t> 5 </a:t>
            </a:r>
            <a:r>
              <a:rPr lang="en-US" dirty="0" err="1"/>
              <a:t>bộ</a:t>
            </a:r>
            <a:r>
              <a:rPr lang="en-US" dirty="0"/>
              <a:t> </a:t>
            </a:r>
            <a:r>
              <a:rPr lang="en-US" dirty="0" err="1"/>
              <a:t>tài</a:t>
            </a:r>
            <a:r>
              <a:rPr lang="en-US" dirty="0"/>
              <a:t> </a:t>
            </a:r>
            <a:r>
              <a:rPr lang="en-US" dirty="0" err="1"/>
              <a:t>liệu</a:t>
            </a:r>
            <a:r>
              <a:rPr lang="en-US" dirty="0"/>
              <a:t> </a:t>
            </a:r>
            <a:r>
              <a:rPr lang="en-US" dirty="0" err="1"/>
              <a:t>tiêu</a:t>
            </a:r>
            <a:r>
              <a:rPr lang="en-US" dirty="0"/>
              <a:t> </a:t>
            </a:r>
            <a:r>
              <a:rPr lang="en-US" dirty="0" err="1"/>
              <a:t>chuẩn</a:t>
            </a:r>
            <a:r>
              <a:rPr lang="en-US" dirty="0"/>
              <a:t>: </a:t>
            </a:r>
            <a:r>
              <a:rPr lang="en-US" dirty="0" err="1"/>
              <a:t>Đặc</a:t>
            </a:r>
            <a:r>
              <a:rPr lang="en-US" dirty="0"/>
              <a:t> </a:t>
            </a:r>
            <a:r>
              <a:rPr lang="en-US" dirty="0" err="1"/>
              <a:t>tả</a:t>
            </a:r>
            <a:r>
              <a:rPr lang="en-US" dirty="0"/>
              <a:t> </a:t>
            </a:r>
            <a:r>
              <a:rPr lang="en-US" dirty="0" err="1"/>
              <a:t>yêu</a:t>
            </a:r>
            <a:r>
              <a:rPr lang="en-US" dirty="0"/>
              <a:t> </a:t>
            </a:r>
            <a:r>
              <a:rPr lang="en-US" dirty="0" err="1"/>
              <a:t>cầu</a:t>
            </a:r>
            <a:r>
              <a:rPr lang="en-US" dirty="0"/>
              <a:t> (SRS), </a:t>
            </a:r>
            <a:r>
              <a:rPr lang="en-US" dirty="0" err="1"/>
              <a:t>Kế</a:t>
            </a:r>
            <a:r>
              <a:rPr lang="en-US" dirty="0"/>
              <a:t> </a:t>
            </a:r>
            <a:r>
              <a:rPr lang="en-US" dirty="0" err="1"/>
              <a:t>hoạch</a:t>
            </a:r>
            <a:r>
              <a:rPr lang="en-US" dirty="0"/>
              <a:t> </a:t>
            </a:r>
            <a:r>
              <a:rPr lang="en-US" dirty="0" err="1"/>
              <a:t>kiểm</a:t>
            </a:r>
            <a:r>
              <a:rPr lang="en-US" dirty="0"/>
              <a:t> </a:t>
            </a:r>
            <a:r>
              <a:rPr lang="en-US" dirty="0" err="1"/>
              <a:t>thử</a:t>
            </a:r>
            <a:r>
              <a:rPr lang="en-US" dirty="0"/>
              <a:t> (Test Plan), Báo </a:t>
            </a:r>
            <a:r>
              <a:rPr lang="en-US" dirty="0" err="1"/>
              <a:t>cáo</a:t>
            </a:r>
            <a:r>
              <a:rPr lang="en-US" dirty="0"/>
              <a:t> chi </a:t>
            </a:r>
            <a:r>
              <a:rPr lang="en-US" dirty="0" err="1"/>
              <a:t>tiết</a:t>
            </a:r>
            <a:r>
              <a:rPr lang="en-US" dirty="0"/>
              <a:t> 41 Test Cases, Ma </a:t>
            </a:r>
            <a:r>
              <a:rPr lang="en-US" dirty="0" err="1"/>
              <a:t>trận</a:t>
            </a:r>
            <a:r>
              <a:rPr lang="en-US" dirty="0"/>
              <a:t> Excel </a:t>
            </a:r>
            <a:r>
              <a:rPr lang="en-US" dirty="0" err="1"/>
              <a:t>đồng</a:t>
            </a:r>
            <a:r>
              <a:rPr lang="en-US" dirty="0"/>
              <a:t> </a:t>
            </a:r>
            <a:r>
              <a:rPr lang="en-US" dirty="0" err="1"/>
              <a:t>bộ</a:t>
            </a:r>
            <a:r>
              <a:rPr lang="en-US" dirty="0"/>
              <a:t>, </a:t>
            </a:r>
            <a:r>
              <a:rPr lang="en-US" dirty="0" err="1"/>
              <a:t>cùng</a:t>
            </a:r>
            <a:r>
              <a:rPr lang="en-US" dirty="0"/>
              <a:t> </a:t>
            </a:r>
            <a:r>
              <a:rPr lang="en-US" dirty="0" err="1"/>
              <a:t>toàn</a:t>
            </a:r>
            <a:r>
              <a:rPr lang="en-US" dirty="0"/>
              <a:t> </a:t>
            </a:r>
            <a:r>
              <a:rPr lang="en-US" dirty="0" err="1"/>
              <a:t>bộ</a:t>
            </a:r>
            <a:r>
              <a:rPr lang="en-US" dirty="0"/>
              <a:t> </a:t>
            </a:r>
            <a:r>
              <a:rPr lang="en-US" dirty="0" err="1"/>
              <a:t>mã</a:t>
            </a:r>
            <a:r>
              <a:rPr lang="en-US" dirty="0"/>
              <a:t> </a:t>
            </a:r>
            <a:r>
              <a:rPr lang="en-US" dirty="0" err="1"/>
              <a:t>nguồn</a:t>
            </a:r>
            <a:r>
              <a:rPr lang="en-US" dirty="0"/>
              <a:t> </a:t>
            </a:r>
            <a:r>
              <a:rPr lang="en-US" dirty="0" err="1"/>
              <a:t>và</a:t>
            </a:r>
            <a:r>
              <a:rPr lang="en-US" dirty="0"/>
              <a:t> </a:t>
            </a:r>
            <a:r>
              <a:rPr lang="en-US" dirty="0" err="1"/>
              <a:t>kịch</a:t>
            </a:r>
            <a:r>
              <a:rPr lang="en-US" dirty="0"/>
              <a:t> </a:t>
            </a:r>
            <a:r>
              <a:rPr lang="en-US" dirty="0" err="1"/>
              <a:t>bản</a:t>
            </a:r>
            <a:r>
              <a:rPr lang="en-US" dirty="0"/>
              <a:t> automation."</a:t>
            </a:r>
          </a:p>
        </p:txBody>
      </p:sp>
      <p:sp>
        <p:nvSpPr>
          <p:cNvPr id="4" name="Slide Number Placeholder 3"/>
          <p:cNvSpPr>
            <a:spLocks noGrp="1"/>
          </p:cNvSpPr>
          <p:nvPr>
            <p:ph type="sldNum" sz="quarter" idx="5"/>
          </p:nvPr>
        </p:nvSpPr>
        <p:spPr/>
        <p:txBody>
          <a:bodyPr/>
          <a:lstStyle/>
          <a:p>
            <a:fld id="{D6E46A25-E217-42DB-BE17-65A038B23A5C}" type="slidenum">
              <a:rPr lang="en-US" smtClean="0"/>
              <a:t>11</a:t>
            </a:fld>
            <a:endParaRPr lang="en-US"/>
          </a:p>
        </p:txBody>
      </p:sp>
    </p:spTree>
    <p:extLst>
      <p:ext uri="{BB962C8B-B14F-4D97-AF65-F5344CB8AC3E}">
        <p14:creationId xmlns:p14="http://schemas.microsoft.com/office/powerpoint/2010/main" val="31745858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Qua đồ án này, chúng em đã nắm vững quy trình kiểm định chất lượng phần mềm, từ kỹ thuật thiết kế ca kiểm thử đến tự động hóa API.</a:t>
            </a:r>
            <a:endParaRPr lang="en-US" dirty="0"/>
          </a:p>
          <a:p>
            <a:endParaRPr lang="en-US" dirty="0"/>
          </a:p>
          <a:p>
            <a:r>
              <a:rPr lang="vi-VN" dirty="0"/>
              <a:t>Em xin chân thành cảm ơn Quý Thầy/Cô đã lắng nghe bài thuyết trình của nhóm. Bây giờ, chúng em xin phép được lắng nghe những câu hỏi và ý kiến đóng góp từ Hội đồng ạ."</a:t>
            </a:r>
            <a:endParaRPr lang="en-US" dirty="0"/>
          </a:p>
        </p:txBody>
      </p:sp>
      <p:sp>
        <p:nvSpPr>
          <p:cNvPr id="4" name="Slide Number Placeholder 3"/>
          <p:cNvSpPr>
            <a:spLocks noGrp="1"/>
          </p:cNvSpPr>
          <p:nvPr>
            <p:ph type="sldNum" sz="quarter" idx="5"/>
          </p:nvPr>
        </p:nvSpPr>
        <p:spPr/>
        <p:txBody>
          <a:bodyPr/>
          <a:lstStyle/>
          <a:p>
            <a:fld id="{D6E46A25-E217-42DB-BE17-65A038B23A5C}" type="slidenum">
              <a:rPr lang="en-US" smtClean="0"/>
              <a:t>12</a:t>
            </a:fld>
            <a:endParaRPr lang="en-US"/>
          </a:p>
        </p:txBody>
      </p:sp>
    </p:spTree>
    <p:extLst>
      <p:ext uri="{BB962C8B-B14F-4D97-AF65-F5344CB8AC3E}">
        <p14:creationId xmlns:p14="http://schemas.microsoft.com/office/powerpoint/2010/main" val="28288870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4657725"/>
            <a:ext cx="10477500" cy="13906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 y="4657725"/>
            <a:ext cx="1047750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9600" y="809625"/>
            <a:ext cx="11582400" cy="342900"/>
          </a:xfrm>
          <a:prstGeom prst="rect">
            <a:avLst/>
          </a:prstGeom>
          <a:noFill/>
        </p:spPr>
        <p:txBody>
          <a:bodyPr wrap="none" lIns="0" tIns="0" rIns="0" bIns="0" anchor="t">
            <a:spAutoFit/>
          </a:bodyPr>
          <a:lstStyle/>
          <a:p>
            <a:pPr algn="l"/>
            <a:r>
              <a:rPr sz="2100" b="1" i="0" u="none">
                <a:solidFill>
                  <a:srgbClr val="000000"/>
                </a:solidFill>
                <a:latin typeface="Space Grotesk"/>
              </a:rPr>
              <a:t>BÁO CÁO BÀI TẬP LỚN</a:t>
            </a:r>
          </a:p>
        </p:txBody>
      </p:sp>
      <p:sp>
        <p:nvSpPr>
          <p:cNvPr id="5" name="TextBox 4"/>
          <p:cNvSpPr txBox="1"/>
          <p:nvPr/>
        </p:nvSpPr>
        <p:spPr>
          <a:xfrm>
            <a:off x="609600" y="1381125"/>
            <a:ext cx="11101387" cy="2743200"/>
          </a:xfrm>
          <a:prstGeom prst="rect">
            <a:avLst/>
          </a:prstGeom>
          <a:noFill/>
        </p:spPr>
        <p:txBody>
          <a:bodyPr wrap="square" lIns="0" tIns="0" rIns="0" bIns="0" anchor="t">
            <a:spAutoFit/>
          </a:bodyPr>
          <a:lstStyle/>
          <a:p>
            <a:pPr algn="l">
              <a:lnSpc>
                <a:spcPts val="7200"/>
              </a:lnSpc>
            </a:pPr>
            <a:r>
              <a:rPr sz="6000" b="1" i="0" u="none" dirty="0">
                <a:solidFill>
                  <a:srgbClr val="000000"/>
                </a:solidFill>
                <a:latin typeface="Space Grotesk"/>
              </a:rPr>
              <a:t>KIỂM ĐỊNH CHẤT LƯỢNG</a:t>
            </a:r>
            <a:r>
              <a:rPr dirty="0"/>
              <a:t>
</a:t>
            </a:r>
            <a:r>
              <a:rPr sz="6000" b="1" i="0" u="none" dirty="0">
                <a:solidFill>
                  <a:srgbClr val="000000"/>
                </a:solidFill>
                <a:latin typeface="Space Grotesk"/>
              </a:rPr>
              <a:t> HỆ THỐNG TRA CỨU TIỀN ĐIỆN</a:t>
            </a:r>
          </a:p>
        </p:txBody>
      </p:sp>
      <p:sp>
        <p:nvSpPr>
          <p:cNvPr id="6" name="TextBox 5"/>
          <p:cNvSpPr txBox="1"/>
          <p:nvPr/>
        </p:nvSpPr>
        <p:spPr>
          <a:xfrm>
            <a:off x="609600" y="5067300"/>
            <a:ext cx="4071937" cy="200025"/>
          </a:xfrm>
          <a:prstGeom prst="rect">
            <a:avLst/>
          </a:prstGeom>
          <a:noFill/>
        </p:spPr>
        <p:txBody>
          <a:bodyPr wrap="none" lIns="0" tIns="0" rIns="0" bIns="0" anchor="t">
            <a:spAutoFit/>
          </a:bodyPr>
          <a:lstStyle/>
          <a:p>
            <a:pPr algn="l"/>
            <a:r>
              <a:rPr sz="1350" b="1" i="0" u="none">
                <a:solidFill>
                  <a:srgbClr val="555555"/>
                </a:solidFill>
                <a:latin typeface="Inter"/>
              </a:rPr>
              <a:t>SINH VIÊN THỰC HIỆN</a:t>
            </a:r>
          </a:p>
        </p:txBody>
      </p:sp>
      <p:sp>
        <p:nvSpPr>
          <p:cNvPr id="7" name="TextBox 6"/>
          <p:cNvSpPr txBox="1"/>
          <p:nvPr/>
        </p:nvSpPr>
        <p:spPr>
          <a:xfrm>
            <a:off x="609600" y="5381625"/>
            <a:ext cx="4071937" cy="295275"/>
          </a:xfrm>
          <a:prstGeom prst="rect">
            <a:avLst/>
          </a:prstGeom>
          <a:noFill/>
        </p:spPr>
        <p:txBody>
          <a:bodyPr wrap="none" lIns="0" tIns="0" rIns="0" bIns="0" anchor="t">
            <a:spAutoFit/>
          </a:bodyPr>
          <a:lstStyle/>
          <a:p>
            <a:pPr algn="l"/>
            <a:r>
              <a:rPr sz="1950" b="1" i="0" u="none">
                <a:solidFill>
                  <a:srgbClr val="000000"/>
                </a:solidFill>
                <a:latin typeface="Inter"/>
              </a:rPr>
              <a:t>Đàm Anh Pháp - 23010360</a:t>
            </a:r>
          </a:p>
        </p:txBody>
      </p:sp>
      <p:sp>
        <p:nvSpPr>
          <p:cNvPr id="8" name="TextBox 7"/>
          <p:cNvSpPr txBox="1"/>
          <p:nvPr/>
        </p:nvSpPr>
        <p:spPr>
          <a:xfrm>
            <a:off x="609600" y="5753100"/>
            <a:ext cx="4071937" cy="295275"/>
          </a:xfrm>
          <a:prstGeom prst="rect">
            <a:avLst/>
          </a:prstGeom>
          <a:noFill/>
        </p:spPr>
        <p:txBody>
          <a:bodyPr wrap="none" lIns="0" tIns="0" rIns="0" bIns="0" anchor="t">
            <a:spAutoFit/>
          </a:bodyPr>
          <a:lstStyle/>
          <a:p>
            <a:pPr algn="l"/>
            <a:r>
              <a:rPr sz="1950" b="1" i="0" u="none">
                <a:solidFill>
                  <a:srgbClr val="000000"/>
                </a:solidFill>
                <a:latin typeface="Inter"/>
              </a:rPr>
              <a:t>Bùi Văn Đại - 23010366</a:t>
            </a:r>
          </a:p>
        </p:txBody>
      </p:sp>
      <p:sp>
        <p:nvSpPr>
          <p:cNvPr id="9" name="TextBox 8"/>
          <p:cNvSpPr txBox="1"/>
          <p:nvPr/>
        </p:nvSpPr>
        <p:spPr>
          <a:xfrm>
            <a:off x="4781550" y="5067300"/>
            <a:ext cx="2655093" cy="200025"/>
          </a:xfrm>
          <a:prstGeom prst="rect">
            <a:avLst/>
          </a:prstGeom>
          <a:noFill/>
        </p:spPr>
        <p:txBody>
          <a:bodyPr wrap="none" lIns="0" tIns="0" rIns="0" bIns="0" anchor="t">
            <a:spAutoFit/>
          </a:bodyPr>
          <a:lstStyle/>
          <a:p>
            <a:pPr algn="l"/>
            <a:r>
              <a:rPr sz="1350" b="1" i="0" u="none">
                <a:solidFill>
                  <a:srgbClr val="555555"/>
                </a:solidFill>
                <a:latin typeface="Inter"/>
              </a:rPr>
              <a:t>GIẢNG VIÊN HƯỚNG DẪN</a:t>
            </a:r>
          </a:p>
        </p:txBody>
      </p:sp>
      <p:sp>
        <p:nvSpPr>
          <p:cNvPr id="10" name="TextBox 9"/>
          <p:cNvSpPr txBox="1"/>
          <p:nvPr/>
        </p:nvSpPr>
        <p:spPr>
          <a:xfrm>
            <a:off x="4781550" y="5381625"/>
            <a:ext cx="2655093" cy="295275"/>
          </a:xfrm>
          <a:prstGeom prst="rect">
            <a:avLst/>
          </a:prstGeom>
          <a:noFill/>
        </p:spPr>
        <p:txBody>
          <a:bodyPr wrap="none" lIns="0" tIns="0" rIns="0" bIns="0" anchor="t">
            <a:spAutoFit/>
          </a:bodyPr>
          <a:lstStyle/>
          <a:p>
            <a:pPr algn="l"/>
            <a:r>
              <a:rPr sz="1950" b="1" i="0" u="none">
                <a:solidFill>
                  <a:srgbClr val="000000"/>
                </a:solidFill>
                <a:latin typeface="Inter"/>
              </a:rPr>
              <a:t>Mai Xuân Tráng</a:t>
            </a:r>
          </a:p>
        </p:txBody>
      </p:sp>
      <p:sp>
        <p:nvSpPr>
          <p:cNvPr id="11" name="TextBox 10"/>
          <p:cNvSpPr txBox="1"/>
          <p:nvPr/>
        </p:nvSpPr>
        <p:spPr>
          <a:xfrm>
            <a:off x="4781550" y="5753100"/>
            <a:ext cx="2655093" cy="295275"/>
          </a:xfrm>
          <a:prstGeom prst="rect">
            <a:avLst/>
          </a:prstGeom>
          <a:noFill/>
        </p:spPr>
        <p:txBody>
          <a:bodyPr wrap="none" lIns="0" tIns="0" rIns="0" bIns="0" anchor="t">
            <a:spAutoFit/>
          </a:bodyPr>
          <a:lstStyle/>
          <a:p>
            <a:pPr algn="l"/>
            <a:r>
              <a:rPr sz="1950" b="1" i="0" u="none">
                <a:solidFill>
                  <a:srgbClr val="000000"/>
                </a:solidFill>
                <a:latin typeface="Inter"/>
              </a:rPr>
              <a:t>Nguyễn Chí Công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4505325"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 y="2682478"/>
            <a:ext cx="3403550" cy="2721768"/>
          </a:xfrm>
          <a:prstGeom prst="rect">
            <a:avLst/>
          </a:prstGeom>
          <a:no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394150" y="2682478"/>
            <a:ext cx="3403550" cy="2721768"/>
          </a:xfrm>
          <a:prstGeom prst="rect">
            <a:avLst/>
          </a:prstGeom>
          <a:no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78700" y="2682478"/>
            <a:ext cx="3403699" cy="2721768"/>
          </a:xfrm>
          <a:prstGeom prst="rect">
            <a:avLst/>
          </a:prstGeom>
          <a:no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66775" y="2444353"/>
            <a:ext cx="723900" cy="4857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651325" y="2444353"/>
            <a:ext cx="781050" cy="4857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435875" y="2444353"/>
            <a:ext cx="781050" cy="4857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09600" y="457200"/>
            <a:ext cx="4830603" cy="619125"/>
          </a:xfrm>
          <a:prstGeom prst="rect">
            <a:avLst/>
          </a:prstGeom>
          <a:noFill/>
        </p:spPr>
        <p:txBody>
          <a:bodyPr wrap="square" lIns="0" tIns="0" rIns="0" bIns="0" anchor="t">
            <a:spAutoFit/>
          </a:bodyPr>
          <a:lstStyle/>
          <a:p>
            <a:pPr algn="l"/>
            <a:r>
              <a:rPr sz="3600" b="1" i="0" u="none">
                <a:solidFill>
                  <a:srgbClr val="000000"/>
                </a:solidFill>
                <a:latin typeface="Space Grotesk"/>
              </a:rPr>
              <a:t>1. MỤC TIÊU KIỂM THỬ</a:t>
            </a:r>
          </a:p>
        </p:txBody>
      </p:sp>
      <p:sp>
        <p:nvSpPr>
          <p:cNvPr id="10" name="TextBox 9"/>
          <p:cNvSpPr txBox="1"/>
          <p:nvPr/>
        </p:nvSpPr>
        <p:spPr>
          <a:xfrm>
            <a:off x="1019175" y="2444353"/>
            <a:ext cx="704850" cy="485775"/>
          </a:xfrm>
          <a:prstGeom prst="rect">
            <a:avLst/>
          </a:prstGeom>
          <a:noFill/>
        </p:spPr>
        <p:txBody>
          <a:bodyPr wrap="none" lIns="0" tIns="0" rIns="0" bIns="0" anchor="t">
            <a:spAutoFit/>
          </a:bodyPr>
          <a:lstStyle/>
          <a:p>
            <a:pPr algn="l"/>
            <a:r>
              <a:rPr sz="3000" b="1" i="0" u="none">
                <a:solidFill>
                  <a:srgbClr val="000000"/>
                </a:solidFill>
                <a:latin typeface="Space Grotesk"/>
              </a:rPr>
              <a:t>01</a:t>
            </a:r>
          </a:p>
        </p:txBody>
      </p:sp>
      <p:sp>
        <p:nvSpPr>
          <p:cNvPr id="11" name="TextBox 10"/>
          <p:cNvSpPr txBox="1"/>
          <p:nvPr/>
        </p:nvSpPr>
        <p:spPr>
          <a:xfrm>
            <a:off x="942975" y="3092053"/>
            <a:ext cx="3592050" cy="371475"/>
          </a:xfrm>
          <a:prstGeom prst="rect">
            <a:avLst/>
          </a:prstGeom>
          <a:noFill/>
        </p:spPr>
        <p:txBody>
          <a:bodyPr wrap="none" lIns="0" tIns="0" rIns="0" bIns="0" anchor="t">
            <a:spAutoFit/>
          </a:bodyPr>
          <a:lstStyle/>
          <a:p>
            <a:pPr algn="l"/>
            <a:r>
              <a:rPr sz="2400" b="1" i="0" u="none">
                <a:solidFill>
                  <a:srgbClr val="000000"/>
                </a:solidFill>
                <a:latin typeface="Inter"/>
              </a:rPr>
              <a:t>Tính chính xác</a:t>
            </a:r>
          </a:p>
        </p:txBody>
      </p:sp>
      <p:sp>
        <p:nvSpPr>
          <p:cNvPr id="12" name="TextBox 11"/>
          <p:cNvSpPr txBox="1"/>
          <p:nvPr/>
        </p:nvSpPr>
        <p:spPr>
          <a:xfrm>
            <a:off x="942975" y="3654028"/>
            <a:ext cx="2832050" cy="1005482"/>
          </a:xfrm>
          <a:prstGeom prst="rect">
            <a:avLst/>
          </a:prstGeom>
          <a:noFill/>
        </p:spPr>
        <p:txBody>
          <a:bodyPr wrap="square" lIns="0" tIns="0" rIns="0" bIns="0" anchor="t">
            <a:spAutoFit/>
          </a:bodyPr>
          <a:lstStyle/>
          <a:p>
            <a:pPr algn="l">
              <a:lnSpc>
                <a:spcPts val="2640"/>
              </a:lnSpc>
            </a:pPr>
            <a:r>
              <a:rPr sz="1650" b="0" i="0" u="none">
                <a:solidFill>
                  <a:srgbClr val="000000"/>
                </a:solidFill>
                <a:latin typeface="Inter"/>
              </a:rPr>
              <a:t>Sử dụng công thức bán lẻ điện 6 bậc của Bộ Công Thương.</a:t>
            </a:r>
          </a:p>
        </p:txBody>
      </p:sp>
      <p:sp>
        <p:nvSpPr>
          <p:cNvPr id="13" name="TextBox 12"/>
          <p:cNvSpPr txBox="1"/>
          <p:nvPr/>
        </p:nvSpPr>
        <p:spPr>
          <a:xfrm>
            <a:off x="4803725" y="2444353"/>
            <a:ext cx="762000" cy="485775"/>
          </a:xfrm>
          <a:prstGeom prst="rect">
            <a:avLst/>
          </a:prstGeom>
          <a:noFill/>
        </p:spPr>
        <p:txBody>
          <a:bodyPr wrap="none" lIns="0" tIns="0" rIns="0" bIns="0" anchor="t">
            <a:spAutoFit/>
          </a:bodyPr>
          <a:lstStyle/>
          <a:p>
            <a:pPr algn="l"/>
            <a:r>
              <a:rPr sz="3000" b="1" i="0" u="none">
                <a:solidFill>
                  <a:srgbClr val="000000"/>
                </a:solidFill>
                <a:latin typeface="Space Grotesk"/>
              </a:rPr>
              <a:t>02</a:t>
            </a:r>
          </a:p>
        </p:txBody>
      </p:sp>
      <p:sp>
        <p:nvSpPr>
          <p:cNvPr id="14" name="TextBox 13"/>
          <p:cNvSpPr txBox="1"/>
          <p:nvPr/>
        </p:nvSpPr>
        <p:spPr>
          <a:xfrm>
            <a:off x="4727525" y="3092053"/>
            <a:ext cx="3592050" cy="371475"/>
          </a:xfrm>
          <a:prstGeom prst="rect">
            <a:avLst/>
          </a:prstGeom>
          <a:noFill/>
        </p:spPr>
        <p:txBody>
          <a:bodyPr wrap="none" lIns="0" tIns="0" rIns="0" bIns="0" anchor="t">
            <a:spAutoFit/>
          </a:bodyPr>
          <a:lstStyle/>
          <a:p>
            <a:pPr algn="l"/>
            <a:r>
              <a:rPr sz="2400" b="1" i="0" u="none">
                <a:solidFill>
                  <a:srgbClr val="000000"/>
                </a:solidFill>
                <a:latin typeface="Inter"/>
              </a:rPr>
              <a:t>Bảo mật</a:t>
            </a:r>
          </a:p>
        </p:txBody>
      </p:sp>
      <p:sp>
        <p:nvSpPr>
          <p:cNvPr id="15" name="TextBox 14"/>
          <p:cNvSpPr txBox="1"/>
          <p:nvPr/>
        </p:nvSpPr>
        <p:spPr>
          <a:xfrm>
            <a:off x="4727525" y="3654028"/>
            <a:ext cx="2832050" cy="1340643"/>
          </a:xfrm>
          <a:prstGeom prst="rect">
            <a:avLst/>
          </a:prstGeom>
          <a:noFill/>
        </p:spPr>
        <p:txBody>
          <a:bodyPr wrap="square" lIns="0" tIns="0" rIns="0" bIns="0" anchor="t">
            <a:spAutoFit/>
          </a:bodyPr>
          <a:lstStyle/>
          <a:p>
            <a:pPr algn="l">
              <a:lnSpc>
                <a:spcPts val="2640"/>
              </a:lnSpc>
            </a:pPr>
            <a:r>
              <a:rPr sz="1650" b="0" i="0" u="none">
                <a:solidFill>
                  <a:srgbClr val="000000"/>
                </a:solidFill>
                <a:latin typeface="Inter"/>
              </a:rPr>
              <a:t>Ẩn thông tin cá nhân của khách hàng được tra cứu và chỉ hiển thị khi nhập SĐT.</a:t>
            </a:r>
          </a:p>
        </p:txBody>
      </p:sp>
      <p:sp>
        <p:nvSpPr>
          <p:cNvPr id="16" name="TextBox 15"/>
          <p:cNvSpPr txBox="1"/>
          <p:nvPr/>
        </p:nvSpPr>
        <p:spPr>
          <a:xfrm>
            <a:off x="8588275" y="2444353"/>
            <a:ext cx="762000" cy="485775"/>
          </a:xfrm>
          <a:prstGeom prst="rect">
            <a:avLst/>
          </a:prstGeom>
          <a:noFill/>
        </p:spPr>
        <p:txBody>
          <a:bodyPr wrap="none" lIns="0" tIns="0" rIns="0" bIns="0" anchor="t">
            <a:spAutoFit/>
          </a:bodyPr>
          <a:lstStyle/>
          <a:p>
            <a:pPr algn="l"/>
            <a:r>
              <a:rPr sz="3000" b="1" i="0" u="none">
                <a:solidFill>
                  <a:srgbClr val="000000"/>
                </a:solidFill>
                <a:latin typeface="Space Grotesk"/>
              </a:rPr>
              <a:t>03</a:t>
            </a:r>
          </a:p>
        </p:txBody>
      </p:sp>
      <p:sp>
        <p:nvSpPr>
          <p:cNvPr id="17" name="TextBox 16"/>
          <p:cNvSpPr txBox="1"/>
          <p:nvPr/>
        </p:nvSpPr>
        <p:spPr>
          <a:xfrm>
            <a:off x="8512075" y="3092053"/>
            <a:ext cx="3592245" cy="371475"/>
          </a:xfrm>
          <a:prstGeom prst="rect">
            <a:avLst/>
          </a:prstGeom>
          <a:noFill/>
        </p:spPr>
        <p:txBody>
          <a:bodyPr wrap="none" lIns="0" tIns="0" rIns="0" bIns="0" anchor="t">
            <a:spAutoFit/>
          </a:bodyPr>
          <a:lstStyle/>
          <a:p>
            <a:pPr algn="l"/>
            <a:r>
              <a:rPr sz="2400" b="1" i="0" u="none">
                <a:solidFill>
                  <a:srgbClr val="000000"/>
                </a:solidFill>
                <a:latin typeface="Inter"/>
              </a:rPr>
              <a:t>Hiệu năng</a:t>
            </a:r>
          </a:p>
        </p:txBody>
      </p:sp>
      <p:sp>
        <p:nvSpPr>
          <p:cNvPr id="18" name="TextBox 17"/>
          <p:cNvSpPr txBox="1"/>
          <p:nvPr/>
        </p:nvSpPr>
        <p:spPr>
          <a:xfrm>
            <a:off x="8512075" y="3654028"/>
            <a:ext cx="2832199" cy="670321"/>
          </a:xfrm>
          <a:prstGeom prst="rect">
            <a:avLst/>
          </a:prstGeom>
          <a:noFill/>
        </p:spPr>
        <p:txBody>
          <a:bodyPr wrap="square" lIns="0" tIns="0" rIns="0" bIns="0" anchor="t">
            <a:spAutoFit/>
          </a:bodyPr>
          <a:lstStyle/>
          <a:p>
            <a:pPr algn="l">
              <a:lnSpc>
                <a:spcPts val="2640"/>
              </a:lnSpc>
            </a:pPr>
            <a:r>
              <a:rPr sz="1650" b="0" i="0" u="none">
                <a:solidFill>
                  <a:srgbClr val="000000"/>
                </a:solidFill>
                <a:latin typeface="Inter"/>
              </a:rPr>
              <a:t>Phản hồi API &lt; 200ms trên tập dữ liệu 27.580 bản ghi.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4981575"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 y="2879526"/>
            <a:ext cx="340355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394150" y="2879526"/>
            <a:ext cx="340355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78700" y="2879526"/>
            <a:ext cx="3403699"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09600" y="4843462"/>
            <a:ext cx="340355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394150" y="4843462"/>
            <a:ext cx="340355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78700" y="4843462"/>
            <a:ext cx="3403699"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09600" y="457200"/>
            <a:ext cx="5330666" cy="619125"/>
          </a:xfrm>
          <a:prstGeom prst="rect">
            <a:avLst/>
          </a:prstGeom>
          <a:noFill/>
        </p:spPr>
        <p:txBody>
          <a:bodyPr wrap="square" lIns="0" tIns="0" rIns="0" bIns="0" anchor="t">
            <a:spAutoFit/>
          </a:bodyPr>
          <a:lstStyle/>
          <a:p>
            <a:pPr algn="l"/>
            <a:r>
              <a:rPr sz="3600" b="1" i="0" u="none">
                <a:solidFill>
                  <a:srgbClr val="000000"/>
                </a:solidFill>
                <a:latin typeface="Space Grotesk"/>
              </a:rPr>
              <a:t>2. QUY TRÌNH THỰC HIỆN</a:t>
            </a:r>
          </a:p>
        </p:txBody>
      </p:sp>
      <p:sp>
        <p:nvSpPr>
          <p:cNvPr id="10" name="TextBox 9"/>
          <p:cNvSpPr txBox="1"/>
          <p:nvPr/>
        </p:nvSpPr>
        <p:spPr>
          <a:xfrm>
            <a:off x="609600" y="2384226"/>
            <a:ext cx="4254437" cy="409575"/>
          </a:xfrm>
          <a:prstGeom prst="rect">
            <a:avLst/>
          </a:prstGeom>
          <a:noFill/>
        </p:spPr>
        <p:txBody>
          <a:bodyPr wrap="none" lIns="0" tIns="0" rIns="0" bIns="0" anchor="t">
            <a:spAutoFit/>
          </a:bodyPr>
          <a:lstStyle/>
          <a:p>
            <a:pPr algn="l">
              <a:lnSpc>
                <a:spcPts val="3000"/>
              </a:lnSpc>
            </a:pPr>
            <a:r>
              <a:rPr sz="3000" b="1" i="0" u="none">
                <a:solidFill>
                  <a:srgbClr val="000000"/>
                </a:solidFill>
                <a:latin typeface="Space Grotesk"/>
              </a:rPr>
              <a:t>01. Lập kế hoạch</a:t>
            </a:r>
          </a:p>
        </p:txBody>
      </p:sp>
      <p:sp>
        <p:nvSpPr>
          <p:cNvPr id="11" name="TextBox 10"/>
          <p:cNvSpPr txBox="1"/>
          <p:nvPr/>
        </p:nvSpPr>
        <p:spPr>
          <a:xfrm>
            <a:off x="609600" y="3098601"/>
            <a:ext cx="3498800" cy="639960"/>
          </a:xfrm>
          <a:prstGeom prst="rect">
            <a:avLst/>
          </a:prstGeom>
          <a:noFill/>
        </p:spPr>
        <p:txBody>
          <a:bodyPr wrap="square" lIns="0" tIns="0" rIns="0" bIns="0" anchor="t">
            <a:spAutoFit/>
          </a:bodyPr>
          <a:lstStyle/>
          <a:p>
            <a:pPr algn="l">
              <a:lnSpc>
                <a:spcPts val="2520"/>
              </a:lnSpc>
            </a:pPr>
            <a:r>
              <a:rPr sz="1800" b="0" i="0" u="none" dirty="0" err="1">
                <a:solidFill>
                  <a:srgbClr val="000000"/>
                </a:solidFill>
                <a:latin typeface="Inter"/>
              </a:rPr>
              <a:t>Soạn</a:t>
            </a:r>
            <a:r>
              <a:rPr sz="1800" b="0" i="0" u="none" dirty="0">
                <a:solidFill>
                  <a:srgbClr val="000000"/>
                </a:solidFill>
                <a:latin typeface="Inter"/>
              </a:rPr>
              <a:t> </a:t>
            </a:r>
            <a:r>
              <a:rPr sz="1800" b="0" i="0" u="none" dirty="0" err="1">
                <a:solidFill>
                  <a:srgbClr val="000000"/>
                </a:solidFill>
                <a:latin typeface="Inter"/>
              </a:rPr>
              <a:t>thảo</a:t>
            </a:r>
            <a:r>
              <a:rPr sz="1800" b="0" i="0" u="none" dirty="0">
                <a:solidFill>
                  <a:srgbClr val="000000"/>
                </a:solidFill>
                <a:latin typeface="Inter"/>
              </a:rPr>
              <a:t> Test Plan, </a:t>
            </a:r>
            <a:r>
              <a:rPr sz="1800" b="0" i="0" u="none" dirty="0" err="1">
                <a:solidFill>
                  <a:srgbClr val="000000"/>
                </a:solidFill>
                <a:latin typeface="Inter"/>
              </a:rPr>
              <a:t>phân</a:t>
            </a:r>
            <a:r>
              <a:rPr sz="1800" b="0" i="0" u="none" dirty="0">
                <a:solidFill>
                  <a:srgbClr val="000000"/>
                </a:solidFill>
                <a:latin typeface="Inter"/>
              </a:rPr>
              <a:t> chia </a:t>
            </a:r>
            <a:r>
              <a:rPr sz="1800" b="0" i="0" u="none" dirty="0" err="1">
                <a:solidFill>
                  <a:srgbClr val="000000"/>
                </a:solidFill>
                <a:latin typeface="Inter"/>
              </a:rPr>
              <a:t>tài</a:t>
            </a:r>
            <a:r>
              <a:rPr sz="1800" b="0" i="0" u="none" dirty="0">
                <a:solidFill>
                  <a:srgbClr val="000000"/>
                </a:solidFill>
                <a:latin typeface="Inter"/>
              </a:rPr>
              <a:t> </a:t>
            </a:r>
            <a:r>
              <a:rPr sz="1800" b="0" i="0" u="none" dirty="0" err="1">
                <a:solidFill>
                  <a:srgbClr val="000000"/>
                </a:solidFill>
                <a:latin typeface="Inter"/>
              </a:rPr>
              <a:t>nguyên</a:t>
            </a:r>
            <a:r>
              <a:rPr sz="1800" b="0" i="0" u="none" dirty="0">
                <a:solidFill>
                  <a:srgbClr val="000000"/>
                </a:solidFill>
                <a:latin typeface="Inter"/>
              </a:rPr>
              <a:t>.</a:t>
            </a:r>
          </a:p>
        </p:txBody>
      </p:sp>
      <p:sp>
        <p:nvSpPr>
          <p:cNvPr id="12" name="TextBox 11"/>
          <p:cNvSpPr txBox="1"/>
          <p:nvPr/>
        </p:nvSpPr>
        <p:spPr>
          <a:xfrm>
            <a:off x="4394150" y="2384226"/>
            <a:ext cx="4254437" cy="409575"/>
          </a:xfrm>
          <a:prstGeom prst="rect">
            <a:avLst/>
          </a:prstGeom>
          <a:noFill/>
        </p:spPr>
        <p:txBody>
          <a:bodyPr wrap="none" lIns="0" tIns="0" rIns="0" bIns="0" anchor="t">
            <a:spAutoFit/>
          </a:bodyPr>
          <a:lstStyle/>
          <a:p>
            <a:pPr algn="l">
              <a:lnSpc>
                <a:spcPts val="3000"/>
              </a:lnSpc>
            </a:pPr>
            <a:r>
              <a:rPr sz="3000" b="1" i="0" u="none">
                <a:solidFill>
                  <a:srgbClr val="000000"/>
                </a:solidFill>
                <a:latin typeface="Space Grotesk"/>
              </a:rPr>
              <a:t>02. Rà soát</a:t>
            </a:r>
          </a:p>
        </p:txBody>
      </p:sp>
      <p:sp>
        <p:nvSpPr>
          <p:cNvPr id="13" name="TextBox 12"/>
          <p:cNvSpPr txBox="1"/>
          <p:nvPr/>
        </p:nvSpPr>
        <p:spPr>
          <a:xfrm>
            <a:off x="4394150" y="3098601"/>
            <a:ext cx="3498800"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Đối chiếu đặc tả SRS và biểu giá EVN.</a:t>
            </a:r>
          </a:p>
        </p:txBody>
      </p:sp>
      <p:sp>
        <p:nvSpPr>
          <p:cNvPr id="14" name="TextBox 13"/>
          <p:cNvSpPr txBox="1"/>
          <p:nvPr/>
        </p:nvSpPr>
        <p:spPr>
          <a:xfrm>
            <a:off x="8178700" y="2384226"/>
            <a:ext cx="4013299" cy="409575"/>
          </a:xfrm>
          <a:prstGeom prst="rect">
            <a:avLst/>
          </a:prstGeom>
          <a:noFill/>
        </p:spPr>
        <p:txBody>
          <a:bodyPr wrap="none" lIns="0" tIns="0" rIns="0" bIns="0" anchor="t">
            <a:spAutoFit/>
          </a:bodyPr>
          <a:lstStyle/>
          <a:p>
            <a:pPr algn="l">
              <a:lnSpc>
                <a:spcPts val="3000"/>
              </a:lnSpc>
            </a:pPr>
            <a:r>
              <a:rPr sz="3000" b="1" i="0" u="none">
                <a:solidFill>
                  <a:srgbClr val="000000"/>
                </a:solidFill>
                <a:latin typeface="Space Grotesk"/>
              </a:rPr>
              <a:t>03. Thiết kế</a:t>
            </a:r>
          </a:p>
        </p:txBody>
      </p:sp>
      <p:sp>
        <p:nvSpPr>
          <p:cNvPr id="15" name="TextBox 14"/>
          <p:cNvSpPr txBox="1"/>
          <p:nvPr/>
        </p:nvSpPr>
        <p:spPr>
          <a:xfrm>
            <a:off x="8178700" y="3098601"/>
            <a:ext cx="3498949"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Xây dựng ma trận ca kiểm thử trên Excel.</a:t>
            </a:r>
          </a:p>
        </p:txBody>
      </p:sp>
      <p:sp>
        <p:nvSpPr>
          <p:cNvPr id="16" name="TextBox 15"/>
          <p:cNvSpPr txBox="1"/>
          <p:nvPr/>
        </p:nvSpPr>
        <p:spPr>
          <a:xfrm>
            <a:off x="609600" y="4348162"/>
            <a:ext cx="4254437" cy="409575"/>
          </a:xfrm>
          <a:prstGeom prst="rect">
            <a:avLst/>
          </a:prstGeom>
          <a:noFill/>
        </p:spPr>
        <p:txBody>
          <a:bodyPr wrap="none" lIns="0" tIns="0" rIns="0" bIns="0" anchor="t">
            <a:spAutoFit/>
          </a:bodyPr>
          <a:lstStyle/>
          <a:p>
            <a:pPr algn="l">
              <a:lnSpc>
                <a:spcPts val="3000"/>
              </a:lnSpc>
            </a:pPr>
            <a:r>
              <a:rPr sz="3000" b="1" i="0" u="none">
                <a:solidFill>
                  <a:srgbClr val="000000"/>
                </a:solidFill>
                <a:latin typeface="Space Grotesk"/>
              </a:rPr>
              <a:t>04. Tự động hóa</a:t>
            </a:r>
          </a:p>
        </p:txBody>
      </p:sp>
      <p:sp>
        <p:nvSpPr>
          <p:cNvPr id="17" name="TextBox 16"/>
          <p:cNvSpPr txBox="1"/>
          <p:nvPr/>
        </p:nvSpPr>
        <p:spPr>
          <a:xfrm>
            <a:off x="609600" y="5062537"/>
            <a:ext cx="3498800"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Viết mã nguồn test với Node.js Runner.</a:t>
            </a:r>
          </a:p>
        </p:txBody>
      </p:sp>
      <p:sp>
        <p:nvSpPr>
          <p:cNvPr id="18" name="TextBox 17"/>
          <p:cNvSpPr txBox="1"/>
          <p:nvPr/>
        </p:nvSpPr>
        <p:spPr>
          <a:xfrm>
            <a:off x="4394150" y="4348162"/>
            <a:ext cx="4254437" cy="409575"/>
          </a:xfrm>
          <a:prstGeom prst="rect">
            <a:avLst/>
          </a:prstGeom>
          <a:noFill/>
        </p:spPr>
        <p:txBody>
          <a:bodyPr wrap="none" lIns="0" tIns="0" rIns="0" bIns="0" anchor="t">
            <a:spAutoFit/>
          </a:bodyPr>
          <a:lstStyle/>
          <a:p>
            <a:pPr algn="l">
              <a:lnSpc>
                <a:spcPts val="3000"/>
              </a:lnSpc>
            </a:pPr>
            <a:r>
              <a:rPr sz="3000" b="1" i="0" u="none">
                <a:solidFill>
                  <a:srgbClr val="000000"/>
                </a:solidFill>
                <a:latin typeface="Space Grotesk"/>
              </a:rPr>
              <a:t>05. Thực thi</a:t>
            </a:r>
          </a:p>
        </p:txBody>
      </p:sp>
      <p:sp>
        <p:nvSpPr>
          <p:cNvPr id="19" name="TextBox 18"/>
          <p:cNvSpPr txBox="1"/>
          <p:nvPr/>
        </p:nvSpPr>
        <p:spPr>
          <a:xfrm>
            <a:off x="4394150" y="5062537"/>
            <a:ext cx="3498800"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Chạy các test tự động và test thủ công UI.</a:t>
            </a:r>
          </a:p>
        </p:txBody>
      </p:sp>
      <p:sp>
        <p:nvSpPr>
          <p:cNvPr id="20" name="TextBox 19"/>
          <p:cNvSpPr txBox="1"/>
          <p:nvPr/>
        </p:nvSpPr>
        <p:spPr>
          <a:xfrm>
            <a:off x="8178700" y="4348162"/>
            <a:ext cx="4013299" cy="409575"/>
          </a:xfrm>
          <a:prstGeom prst="rect">
            <a:avLst/>
          </a:prstGeom>
          <a:noFill/>
        </p:spPr>
        <p:txBody>
          <a:bodyPr wrap="none" lIns="0" tIns="0" rIns="0" bIns="0" anchor="t">
            <a:spAutoFit/>
          </a:bodyPr>
          <a:lstStyle/>
          <a:p>
            <a:pPr algn="l">
              <a:lnSpc>
                <a:spcPts val="3000"/>
              </a:lnSpc>
            </a:pPr>
            <a:r>
              <a:rPr sz="3000" b="1" i="0" u="none">
                <a:solidFill>
                  <a:srgbClr val="000000"/>
                </a:solidFill>
                <a:latin typeface="Space Grotesk"/>
              </a:rPr>
              <a:t>06. Đóng gói</a:t>
            </a:r>
          </a:p>
        </p:txBody>
      </p:sp>
      <p:sp>
        <p:nvSpPr>
          <p:cNvPr id="21" name="TextBox 20"/>
          <p:cNvSpPr txBox="1"/>
          <p:nvPr/>
        </p:nvSpPr>
        <p:spPr>
          <a:xfrm>
            <a:off x="8178700" y="5062537"/>
            <a:ext cx="4013299" cy="319980"/>
          </a:xfrm>
          <a:prstGeom prst="rect">
            <a:avLst/>
          </a:prstGeom>
          <a:noFill/>
        </p:spPr>
        <p:txBody>
          <a:bodyPr wrap="none" lIns="0" tIns="0" rIns="0" bIns="0" anchor="t">
            <a:spAutoFit/>
          </a:bodyPr>
          <a:lstStyle/>
          <a:p>
            <a:pPr algn="l">
              <a:lnSpc>
                <a:spcPts val="2520"/>
              </a:lnSpc>
            </a:pPr>
            <a:r>
              <a:rPr sz="1800" b="0" i="0" u="none">
                <a:solidFill>
                  <a:srgbClr val="000000"/>
                </a:solidFill>
                <a:latin typeface="Inter"/>
              </a:rPr>
              <a:t>Báo cáo nghiệm thu.</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5362575"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09600" y="457200"/>
            <a:ext cx="5730716" cy="619125"/>
          </a:xfrm>
          <a:prstGeom prst="rect">
            <a:avLst/>
          </a:prstGeom>
          <a:noFill/>
        </p:spPr>
        <p:txBody>
          <a:bodyPr wrap="square" lIns="0" tIns="0" rIns="0" bIns="0" anchor="t">
            <a:spAutoFit/>
          </a:bodyPr>
          <a:lstStyle/>
          <a:p>
            <a:pPr algn="l"/>
            <a:r>
              <a:rPr sz="3600" b="1" i="0" u="none">
                <a:solidFill>
                  <a:srgbClr val="000000"/>
                </a:solidFill>
                <a:latin typeface="Space Grotesk"/>
              </a:rPr>
              <a:t>3. PHƯƠNG PHÁP ÁP DỤNG</a:t>
            </a:r>
          </a:p>
        </p:txBody>
      </p:sp>
      <p:sp>
        <p:nvSpPr>
          <p:cNvPr id="4" name="TextBox 3"/>
          <p:cNvSpPr txBox="1"/>
          <p:nvPr/>
        </p:nvSpPr>
        <p:spPr>
          <a:xfrm>
            <a:off x="609600" y="2755701"/>
            <a:ext cx="6263282" cy="457200"/>
          </a:xfrm>
          <a:prstGeom prst="rect">
            <a:avLst/>
          </a:prstGeom>
          <a:noFill/>
        </p:spPr>
        <p:txBody>
          <a:bodyPr wrap="none" lIns="0" tIns="0" rIns="0" bIns="0" anchor="t">
            <a:spAutoFit/>
          </a:bodyPr>
          <a:lstStyle/>
          <a:p>
            <a:pPr algn="l">
              <a:lnSpc>
                <a:spcPts val="3600"/>
              </a:lnSpc>
            </a:pPr>
            <a:r>
              <a:rPr sz="3600" b="1" i="0" u="none">
                <a:solidFill>
                  <a:srgbClr val="000000"/>
                </a:solidFill>
                <a:latin typeface="Space Grotesk"/>
              </a:rPr>
              <a:t>Hộp Đen</a:t>
            </a:r>
          </a:p>
        </p:txBody>
      </p:sp>
      <p:sp>
        <p:nvSpPr>
          <p:cNvPr id="5" name="TextBox 4"/>
          <p:cNvSpPr txBox="1"/>
          <p:nvPr/>
        </p:nvSpPr>
        <p:spPr>
          <a:xfrm>
            <a:off x="6477000" y="2801391"/>
            <a:ext cx="5715000" cy="457200"/>
          </a:xfrm>
          <a:prstGeom prst="rect">
            <a:avLst/>
          </a:prstGeom>
          <a:noFill/>
        </p:spPr>
        <p:txBody>
          <a:bodyPr wrap="none" lIns="0" tIns="0" rIns="0" bIns="0" anchor="t">
            <a:spAutoFit/>
          </a:bodyPr>
          <a:lstStyle/>
          <a:p>
            <a:pPr algn="l">
              <a:lnSpc>
                <a:spcPts val="3600"/>
              </a:lnSpc>
            </a:pPr>
            <a:r>
              <a:rPr sz="3600" b="1" i="0" u="none">
                <a:solidFill>
                  <a:srgbClr val="000000"/>
                </a:solidFill>
                <a:latin typeface="Space Grotesk"/>
              </a:rPr>
              <a:t>Hộp Trắng &amp; Khác</a:t>
            </a:r>
          </a:p>
        </p:txBody>
      </p:sp>
      <p:sp>
        <p:nvSpPr>
          <p:cNvPr id="6" name="TextBox 5"/>
          <p:cNvSpPr txBox="1"/>
          <p:nvPr/>
        </p:nvSpPr>
        <p:spPr>
          <a:xfrm>
            <a:off x="609600" y="3593901"/>
            <a:ext cx="4867275"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Giá trị biên (BVA):</a:t>
            </a:r>
            <a:r>
              <a:rPr sz="1800" b="0" i="0" u="none">
                <a:solidFill>
                  <a:srgbClr val="000000"/>
                </a:solidFill>
                <a:latin typeface="Inter"/>
              </a:rPr>
              <a:t> Điểm chuyển bậc 50, 100, 200 kWh.</a:t>
            </a:r>
          </a:p>
        </p:txBody>
      </p:sp>
      <p:sp>
        <p:nvSpPr>
          <p:cNvPr id="7" name="TextBox 6"/>
          <p:cNvSpPr txBox="1"/>
          <p:nvPr/>
        </p:nvSpPr>
        <p:spPr>
          <a:xfrm>
            <a:off x="609600" y="4462462"/>
            <a:ext cx="4867275"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Phân vùng (EP):</a:t>
            </a:r>
            <a:r>
              <a:rPr sz="1800" b="0" i="0" u="none">
                <a:solidFill>
                  <a:srgbClr val="000000"/>
                </a:solidFill>
                <a:latin typeface="Inter"/>
              </a:rPr>
              <a:t> Mã KH hợp lệ, mã lỗi, chuỗi rỗng.</a:t>
            </a:r>
          </a:p>
        </p:txBody>
      </p:sp>
      <p:sp>
        <p:nvSpPr>
          <p:cNvPr id="8" name="TextBox 7"/>
          <p:cNvSpPr txBox="1"/>
          <p:nvPr/>
        </p:nvSpPr>
        <p:spPr>
          <a:xfrm>
            <a:off x="6477000" y="3639591"/>
            <a:ext cx="5715000" cy="319980"/>
          </a:xfrm>
          <a:prstGeom prst="rect">
            <a:avLst/>
          </a:prstGeom>
          <a:noFill/>
        </p:spPr>
        <p:txBody>
          <a:bodyPr wrap="non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Bao phủ nhánh:</a:t>
            </a:r>
            <a:r>
              <a:rPr sz="1800" b="0" i="0" u="none">
                <a:solidFill>
                  <a:srgbClr val="000000"/>
                </a:solidFill>
                <a:latin typeface="Inter"/>
              </a:rPr>
              <a:t> 6 vòng lặp bậc giá điện.</a:t>
            </a:r>
          </a:p>
        </p:txBody>
      </p:sp>
      <p:sp>
        <p:nvSpPr>
          <p:cNvPr id="9" name="TextBox 8"/>
          <p:cNvSpPr txBox="1"/>
          <p:nvPr/>
        </p:nvSpPr>
        <p:spPr>
          <a:xfrm>
            <a:off x="6477000" y="4188172"/>
            <a:ext cx="5715000" cy="319980"/>
          </a:xfrm>
          <a:prstGeom prst="rect">
            <a:avLst/>
          </a:prstGeom>
          <a:noFill/>
        </p:spPr>
        <p:txBody>
          <a:bodyPr wrap="non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Bảo mật:</a:t>
            </a:r>
            <a:r>
              <a:rPr sz="1800" b="0" i="0" u="none">
                <a:solidFill>
                  <a:srgbClr val="000000"/>
                </a:solidFill>
                <a:latin typeface="Inter"/>
              </a:rPr>
              <a:t> Kiểm định payload API qua cURL.</a:t>
            </a:r>
          </a:p>
        </p:txBody>
      </p:sp>
      <p:sp>
        <p:nvSpPr>
          <p:cNvPr id="10" name="TextBox 9"/>
          <p:cNvSpPr txBox="1"/>
          <p:nvPr/>
        </p:nvSpPr>
        <p:spPr>
          <a:xfrm>
            <a:off x="6477000" y="4736752"/>
            <a:ext cx="5715000" cy="319980"/>
          </a:xfrm>
          <a:prstGeom prst="rect">
            <a:avLst/>
          </a:prstGeom>
          <a:noFill/>
        </p:spPr>
        <p:txBody>
          <a:bodyPr wrap="non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Hiệu năng:</a:t>
            </a:r>
            <a:r>
              <a:rPr sz="1800" b="0" i="0" u="none">
                <a:solidFill>
                  <a:srgbClr val="000000"/>
                </a:solidFill>
                <a:latin typeface="Inter"/>
              </a:rPr>
              <a:t> Đo độ trễ Dashboard API.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1333500" y="4276725"/>
            <a:ext cx="9525000" cy="16573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333500" y="5905500"/>
            <a:ext cx="952500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1333500" y="4276725"/>
            <a:ext cx="952500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815828" y="923925"/>
            <a:ext cx="6560343" cy="2105025"/>
          </a:xfrm>
          <a:prstGeom prst="rect">
            <a:avLst/>
          </a:prstGeom>
          <a:noFill/>
        </p:spPr>
        <p:txBody>
          <a:bodyPr wrap="none" lIns="0" tIns="0" rIns="0" bIns="0" anchor="t">
            <a:spAutoFit/>
          </a:bodyPr>
          <a:lstStyle/>
          <a:p>
            <a:pPr algn="ctr">
              <a:lnSpc>
                <a:spcPts val="16575"/>
              </a:lnSpc>
            </a:pPr>
            <a:r>
              <a:rPr sz="19500" b="1" i="0" u="none">
                <a:solidFill>
                  <a:srgbClr val="000000"/>
                </a:solidFill>
                <a:latin typeface="Space Grotesk"/>
              </a:rPr>
              <a:t>41</a:t>
            </a:r>
          </a:p>
        </p:txBody>
      </p:sp>
      <p:sp>
        <p:nvSpPr>
          <p:cNvPr id="6" name="TextBox 5"/>
          <p:cNvSpPr txBox="1"/>
          <p:nvPr/>
        </p:nvSpPr>
        <p:spPr>
          <a:xfrm>
            <a:off x="2815828" y="3028950"/>
            <a:ext cx="6560343" cy="485775"/>
          </a:xfrm>
          <a:prstGeom prst="rect">
            <a:avLst/>
          </a:prstGeom>
          <a:noFill/>
        </p:spPr>
        <p:txBody>
          <a:bodyPr wrap="none" lIns="0" tIns="0" rIns="0" bIns="0" anchor="t">
            <a:spAutoFit/>
          </a:bodyPr>
          <a:lstStyle/>
          <a:p>
            <a:pPr algn="ctr"/>
            <a:r>
              <a:rPr sz="3000" b="1" i="0" u="none">
                <a:solidFill>
                  <a:srgbClr val="000000"/>
                </a:solidFill>
                <a:latin typeface="Space Grotesk"/>
              </a:rPr>
              <a:t>CA KIỂM THỬ TOÀN HỆ THỐNG</a:t>
            </a:r>
          </a:p>
        </p:txBody>
      </p:sp>
      <p:sp>
        <p:nvSpPr>
          <p:cNvPr id="7" name="TextBox 6"/>
          <p:cNvSpPr txBox="1"/>
          <p:nvPr/>
        </p:nvSpPr>
        <p:spPr>
          <a:xfrm>
            <a:off x="2407443" y="4686300"/>
            <a:ext cx="2166937" cy="609600"/>
          </a:xfrm>
          <a:prstGeom prst="rect">
            <a:avLst/>
          </a:prstGeom>
          <a:noFill/>
        </p:spPr>
        <p:txBody>
          <a:bodyPr wrap="none" lIns="0" tIns="0" rIns="0" bIns="0" anchor="t">
            <a:spAutoFit/>
          </a:bodyPr>
          <a:lstStyle/>
          <a:p>
            <a:pPr algn="ctr">
              <a:lnSpc>
                <a:spcPts val="4800"/>
              </a:lnSpc>
            </a:pPr>
            <a:r>
              <a:rPr sz="4800" b="1" i="0" u="none">
                <a:solidFill>
                  <a:srgbClr val="000000"/>
                </a:solidFill>
                <a:latin typeface="Space Grotesk"/>
              </a:rPr>
              <a:t>24</a:t>
            </a:r>
          </a:p>
        </p:txBody>
      </p:sp>
      <p:sp>
        <p:nvSpPr>
          <p:cNvPr id="8" name="TextBox 7"/>
          <p:cNvSpPr txBox="1"/>
          <p:nvPr/>
        </p:nvSpPr>
        <p:spPr>
          <a:xfrm>
            <a:off x="2407443" y="5295900"/>
            <a:ext cx="2166937" cy="228600"/>
          </a:xfrm>
          <a:prstGeom prst="rect">
            <a:avLst/>
          </a:prstGeom>
          <a:noFill/>
        </p:spPr>
        <p:txBody>
          <a:bodyPr wrap="none" lIns="0" tIns="0" rIns="0" bIns="0" anchor="t">
            <a:spAutoFit/>
          </a:bodyPr>
          <a:lstStyle/>
          <a:p>
            <a:pPr algn="ctr"/>
            <a:r>
              <a:rPr sz="1500" b="1" i="0" u="none">
                <a:solidFill>
                  <a:srgbClr val="000000"/>
                </a:solidFill>
                <a:latin typeface="Inter"/>
              </a:rPr>
              <a:t>CA TỰ ĐỘNG (API)</a:t>
            </a:r>
          </a:p>
        </p:txBody>
      </p:sp>
      <p:sp>
        <p:nvSpPr>
          <p:cNvPr id="9" name="TextBox 8"/>
          <p:cNvSpPr txBox="1"/>
          <p:nvPr/>
        </p:nvSpPr>
        <p:spPr>
          <a:xfrm>
            <a:off x="4900612" y="4686300"/>
            <a:ext cx="2190750" cy="609600"/>
          </a:xfrm>
          <a:prstGeom prst="rect">
            <a:avLst/>
          </a:prstGeom>
          <a:noFill/>
        </p:spPr>
        <p:txBody>
          <a:bodyPr wrap="none" lIns="0" tIns="0" rIns="0" bIns="0" anchor="t">
            <a:spAutoFit/>
          </a:bodyPr>
          <a:lstStyle/>
          <a:p>
            <a:pPr algn="ctr">
              <a:lnSpc>
                <a:spcPts val="4800"/>
              </a:lnSpc>
            </a:pPr>
            <a:r>
              <a:rPr sz="4800" b="1" i="0" u="none">
                <a:solidFill>
                  <a:srgbClr val="000000"/>
                </a:solidFill>
                <a:latin typeface="Space Grotesk"/>
              </a:rPr>
              <a:t>17</a:t>
            </a:r>
          </a:p>
        </p:txBody>
      </p:sp>
      <p:sp>
        <p:nvSpPr>
          <p:cNvPr id="10" name="TextBox 9"/>
          <p:cNvSpPr txBox="1"/>
          <p:nvPr/>
        </p:nvSpPr>
        <p:spPr>
          <a:xfrm>
            <a:off x="4900612" y="5295900"/>
            <a:ext cx="2190750" cy="228600"/>
          </a:xfrm>
          <a:prstGeom prst="rect">
            <a:avLst/>
          </a:prstGeom>
          <a:noFill/>
        </p:spPr>
        <p:txBody>
          <a:bodyPr wrap="none" lIns="0" tIns="0" rIns="0" bIns="0" anchor="t">
            <a:spAutoFit/>
          </a:bodyPr>
          <a:lstStyle/>
          <a:p>
            <a:pPr algn="ctr"/>
            <a:r>
              <a:rPr sz="1500" b="1" i="0" u="none">
                <a:solidFill>
                  <a:srgbClr val="000000"/>
                </a:solidFill>
                <a:latin typeface="Inter"/>
              </a:rPr>
              <a:t>CA THỦ CÔNG (UI)</a:t>
            </a:r>
          </a:p>
        </p:txBody>
      </p:sp>
      <p:sp>
        <p:nvSpPr>
          <p:cNvPr id="11" name="TextBox 10"/>
          <p:cNvSpPr txBox="1"/>
          <p:nvPr/>
        </p:nvSpPr>
        <p:spPr>
          <a:xfrm>
            <a:off x="7392590" y="4686300"/>
            <a:ext cx="2416968" cy="609600"/>
          </a:xfrm>
          <a:prstGeom prst="rect">
            <a:avLst/>
          </a:prstGeom>
          <a:noFill/>
        </p:spPr>
        <p:txBody>
          <a:bodyPr wrap="none" lIns="0" tIns="0" rIns="0" bIns="0" anchor="t">
            <a:spAutoFit/>
          </a:bodyPr>
          <a:lstStyle/>
          <a:p>
            <a:pPr algn="ctr">
              <a:lnSpc>
                <a:spcPts val="4800"/>
              </a:lnSpc>
            </a:pPr>
            <a:r>
              <a:rPr sz="4800" b="1" i="0" u="none">
                <a:solidFill>
                  <a:srgbClr val="000000"/>
                </a:solidFill>
                <a:latin typeface="Space Grotesk"/>
              </a:rPr>
              <a:t>100%</a:t>
            </a:r>
          </a:p>
        </p:txBody>
      </p:sp>
      <p:sp>
        <p:nvSpPr>
          <p:cNvPr id="12" name="TextBox 11"/>
          <p:cNvSpPr txBox="1"/>
          <p:nvPr/>
        </p:nvSpPr>
        <p:spPr>
          <a:xfrm>
            <a:off x="7392590" y="5295900"/>
            <a:ext cx="2416968" cy="228600"/>
          </a:xfrm>
          <a:prstGeom prst="rect">
            <a:avLst/>
          </a:prstGeom>
          <a:noFill/>
        </p:spPr>
        <p:txBody>
          <a:bodyPr wrap="none" lIns="0" tIns="0" rIns="0" bIns="0" anchor="t">
            <a:spAutoFit/>
          </a:bodyPr>
          <a:lstStyle/>
          <a:p>
            <a:pPr algn="ctr"/>
            <a:r>
              <a:rPr sz="1500" b="1" i="0" u="none">
                <a:solidFill>
                  <a:srgbClr val="000000"/>
                </a:solidFill>
                <a:latin typeface="Inter"/>
              </a:rPr>
              <a:t>TỶ LỆ ĐẠT (PASSED)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6438900"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09600" y="2790825"/>
            <a:ext cx="533400" cy="609600"/>
          </a:xfrm>
          <a:prstGeom prst="rect">
            <a:avLst/>
          </a:prstGeom>
        </p:spPr>
      </p:pic>
      <p:pic>
        <p:nvPicPr>
          <p:cNvPr id="4" name="Picture 3" descr="image.png"/>
          <p:cNvPicPr>
            <a:picLocks noChangeAspect="1"/>
          </p:cNvPicPr>
          <p:nvPr/>
        </p:nvPicPr>
        <p:blipFill>
          <a:blip r:embed="rId4"/>
          <a:stretch>
            <a:fillRect/>
          </a:stretch>
        </p:blipFill>
        <p:spPr>
          <a:xfrm>
            <a:off x="4394150" y="2790825"/>
            <a:ext cx="609600" cy="609600"/>
          </a:xfrm>
          <a:prstGeom prst="rect">
            <a:avLst/>
          </a:prstGeom>
        </p:spPr>
      </p:pic>
      <p:pic>
        <p:nvPicPr>
          <p:cNvPr id="5" name="Picture 4" descr="image.png"/>
          <p:cNvPicPr>
            <a:picLocks noChangeAspect="1"/>
          </p:cNvPicPr>
          <p:nvPr/>
        </p:nvPicPr>
        <p:blipFill>
          <a:blip r:embed="rId5"/>
          <a:stretch>
            <a:fillRect/>
          </a:stretch>
        </p:blipFill>
        <p:spPr>
          <a:xfrm>
            <a:off x="8178700" y="2790825"/>
            <a:ext cx="457200" cy="609600"/>
          </a:xfrm>
          <a:prstGeom prst="rect">
            <a:avLst/>
          </a:prstGeom>
        </p:spPr>
      </p:pic>
      <p:sp>
        <p:nvSpPr>
          <p:cNvPr id="6" name="TextBox 5"/>
          <p:cNvSpPr txBox="1"/>
          <p:nvPr/>
        </p:nvSpPr>
        <p:spPr>
          <a:xfrm>
            <a:off x="609600" y="457200"/>
            <a:ext cx="6860857" cy="619125"/>
          </a:xfrm>
          <a:prstGeom prst="rect">
            <a:avLst/>
          </a:prstGeom>
          <a:noFill/>
        </p:spPr>
        <p:txBody>
          <a:bodyPr wrap="square" lIns="0" tIns="0" rIns="0" bIns="0" anchor="t">
            <a:spAutoFit/>
          </a:bodyPr>
          <a:lstStyle/>
          <a:p>
            <a:pPr algn="l"/>
            <a:r>
              <a:rPr sz="3600" b="1" i="0" u="none">
                <a:solidFill>
                  <a:srgbClr val="000000"/>
                </a:solidFill>
                <a:latin typeface="Space Grotesk"/>
              </a:rPr>
              <a:t>4. PHÂN HỆ: CỔNG KHÁCH HÀNG</a:t>
            </a:r>
          </a:p>
        </p:txBody>
      </p:sp>
      <p:sp>
        <p:nvSpPr>
          <p:cNvPr id="7" name="TextBox 6"/>
          <p:cNvSpPr txBox="1"/>
          <p:nvPr/>
        </p:nvSpPr>
        <p:spPr>
          <a:xfrm>
            <a:off x="609600" y="3705225"/>
            <a:ext cx="4467159" cy="371475"/>
          </a:xfrm>
          <a:prstGeom prst="rect">
            <a:avLst/>
          </a:prstGeom>
          <a:noFill/>
        </p:spPr>
        <p:txBody>
          <a:bodyPr wrap="none" lIns="0" tIns="0" rIns="0" bIns="0" anchor="t">
            <a:spAutoFit/>
          </a:bodyPr>
          <a:lstStyle/>
          <a:p>
            <a:pPr algn="l"/>
            <a:r>
              <a:rPr sz="2400" b="1" i="0" u="none">
                <a:solidFill>
                  <a:srgbClr val="000000"/>
                </a:solidFill>
                <a:latin typeface="Inter"/>
              </a:rPr>
              <a:t>Tra cứu ẩn danh</a:t>
            </a:r>
          </a:p>
        </p:txBody>
      </p:sp>
      <p:sp>
        <p:nvSpPr>
          <p:cNvPr id="8" name="TextBox 7"/>
          <p:cNvSpPr txBox="1"/>
          <p:nvPr/>
        </p:nvSpPr>
        <p:spPr>
          <a:xfrm>
            <a:off x="609600" y="4267200"/>
            <a:ext cx="3498800" cy="1028700"/>
          </a:xfrm>
          <a:prstGeom prst="rect">
            <a:avLst/>
          </a:prstGeom>
          <a:noFill/>
        </p:spPr>
        <p:txBody>
          <a:bodyPr wrap="square" lIns="0" tIns="0" rIns="0" bIns="0" anchor="t">
            <a:spAutoFit/>
          </a:bodyPr>
          <a:lstStyle/>
          <a:p>
            <a:pPr algn="l">
              <a:lnSpc>
                <a:spcPts val="2700"/>
              </a:lnSpc>
            </a:pPr>
            <a:r>
              <a:rPr sz="1800" b="0" i="0" u="none">
                <a:solidFill>
                  <a:srgbClr val="000000"/>
                </a:solidFill>
                <a:latin typeface="Inter"/>
              </a:rPr>
              <a:t>Giấu hoàn toàn SĐT, địa chỉ và mã công tơ trong API response.</a:t>
            </a:r>
          </a:p>
        </p:txBody>
      </p:sp>
      <p:sp>
        <p:nvSpPr>
          <p:cNvPr id="9" name="TextBox 8"/>
          <p:cNvSpPr txBox="1"/>
          <p:nvPr/>
        </p:nvSpPr>
        <p:spPr>
          <a:xfrm>
            <a:off x="4394150" y="3705225"/>
            <a:ext cx="4467159" cy="371475"/>
          </a:xfrm>
          <a:prstGeom prst="rect">
            <a:avLst/>
          </a:prstGeom>
          <a:noFill/>
        </p:spPr>
        <p:txBody>
          <a:bodyPr wrap="none" lIns="0" tIns="0" rIns="0" bIns="0" anchor="t">
            <a:spAutoFit/>
          </a:bodyPr>
          <a:lstStyle/>
          <a:p>
            <a:pPr algn="l"/>
            <a:r>
              <a:rPr sz="2400" b="1" i="0" u="none">
                <a:solidFill>
                  <a:srgbClr val="000000"/>
                </a:solidFill>
                <a:latin typeface="Inter"/>
              </a:rPr>
              <a:t>Xác thực SĐT 2 lớp</a:t>
            </a:r>
          </a:p>
        </p:txBody>
      </p:sp>
      <p:sp>
        <p:nvSpPr>
          <p:cNvPr id="10" name="TextBox 9"/>
          <p:cNvSpPr txBox="1"/>
          <p:nvPr/>
        </p:nvSpPr>
        <p:spPr>
          <a:xfrm>
            <a:off x="4394150" y="4267200"/>
            <a:ext cx="3498800" cy="685800"/>
          </a:xfrm>
          <a:prstGeom prst="rect">
            <a:avLst/>
          </a:prstGeom>
          <a:noFill/>
        </p:spPr>
        <p:txBody>
          <a:bodyPr wrap="square" lIns="0" tIns="0" rIns="0" bIns="0" anchor="t">
            <a:spAutoFit/>
          </a:bodyPr>
          <a:lstStyle/>
          <a:p>
            <a:pPr algn="l">
              <a:lnSpc>
                <a:spcPts val="2700"/>
              </a:lnSpc>
            </a:pPr>
            <a:r>
              <a:rPr sz="1800" b="0" i="0" u="none">
                <a:solidFill>
                  <a:srgbClr val="000000"/>
                </a:solidFill>
                <a:latin typeface="Inter"/>
              </a:rPr>
              <a:t>Nhập đúng SĐT chính chủ để mở khóa 17 kỳ hóa đơn.</a:t>
            </a:r>
          </a:p>
        </p:txBody>
      </p:sp>
      <p:sp>
        <p:nvSpPr>
          <p:cNvPr id="11" name="TextBox 10"/>
          <p:cNvSpPr txBox="1"/>
          <p:nvPr/>
        </p:nvSpPr>
        <p:spPr>
          <a:xfrm>
            <a:off x="8178700" y="3705225"/>
            <a:ext cx="4013299" cy="371475"/>
          </a:xfrm>
          <a:prstGeom prst="rect">
            <a:avLst/>
          </a:prstGeom>
          <a:noFill/>
        </p:spPr>
        <p:txBody>
          <a:bodyPr wrap="none" lIns="0" tIns="0" rIns="0" bIns="0" anchor="t">
            <a:spAutoFit/>
          </a:bodyPr>
          <a:lstStyle/>
          <a:p>
            <a:pPr algn="l"/>
            <a:r>
              <a:rPr sz="2400" b="1" i="0" u="none">
                <a:solidFill>
                  <a:srgbClr val="000000"/>
                </a:solidFill>
                <a:latin typeface="Inter"/>
              </a:rPr>
              <a:t>Chi tiết đơn giá</a:t>
            </a:r>
          </a:p>
        </p:txBody>
      </p:sp>
      <p:sp>
        <p:nvSpPr>
          <p:cNvPr id="12" name="TextBox 11"/>
          <p:cNvSpPr txBox="1"/>
          <p:nvPr/>
        </p:nvSpPr>
        <p:spPr>
          <a:xfrm>
            <a:off x="8178700" y="4267200"/>
            <a:ext cx="3498949" cy="685800"/>
          </a:xfrm>
          <a:prstGeom prst="rect">
            <a:avLst/>
          </a:prstGeom>
          <a:noFill/>
        </p:spPr>
        <p:txBody>
          <a:bodyPr wrap="square" lIns="0" tIns="0" rIns="0" bIns="0" anchor="t">
            <a:spAutoFit/>
          </a:bodyPr>
          <a:lstStyle/>
          <a:p>
            <a:pPr algn="l">
              <a:lnSpc>
                <a:spcPts val="2700"/>
              </a:lnSpc>
            </a:pPr>
            <a:r>
              <a:rPr sz="1800" b="0" i="0" u="none">
                <a:solidFill>
                  <a:srgbClr val="000000"/>
                </a:solidFill>
                <a:latin typeface="Inter"/>
              </a:rPr>
              <a:t>Chia 6 bậc giá và kiểm tra độ lệch VAT 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5657850"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 y="4176712"/>
            <a:ext cx="5257800" cy="2019300"/>
          </a:xfrm>
          <a:prstGeom prst="rect">
            <a:avLst/>
          </a:prstGeom>
          <a:solidFill>
            <a:srgbClr val="FAFAFA"/>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42975" y="5529262"/>
            <a:ext cx="459105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9600" y="457200"/>
            <a:ext cx="6040755" cy="619125"/>
          </a:xfrm>
          <a:prstGeom prst="rect">
            <a:avLst/>
          </a:prstGeom>
          <a:noFill/>
        </p:spPr>
        <p:txBody>
          <a:bodyPr wrap="square" lIns="0" tIns="0" rIns="0" bIns="0" anchor="t">
            <a:spAutoFit/>
          </a:bodyPr>
          <a:lstStyle/>
          <a:p>
            <a:pPr algn="l"/>
            <a:r>
              <a:rPr sz="3600" b="1" i="0" u="none">
                <a:solidFill>
                  <a:srgbClr val="000000"/>
                </a:solidFill>
                <a:latin typeface="Space Grotesk"/>
              </a:rPr>
              <a:t>5. PHÂN HỆ: CỔNG QUẢN TRỊ</a:t>
            </a:r>
          </a:p>
        </p:txBody>
      </p:sp>
      <p:sp>
        <p:nvSpPr>
          <p:cNvPr id="6" name="TextBox 5"/>
          <p:cNvSpPr txBox="1"/>
          <p:nvPr/>
        </p:nvSpPr>
        <p:spPr>
          <a:xfrm>
            <a:off x="609600" y="1890712"/>
            <a:ext cx="6572250" cy="1524000"/>
          </a:xfrm>
          <a:prstGeom prst="rect">
            <a:avLst/>
          </a:prstGeom>
          <a:noFill/>
        </p:spPr>
        <p:txBody>
          <a:bodyPr wrap="none" lIns="0" tIns="0" rIns="0" bIns="0" anchor="t">
            <a:spAutoFit/>
          </a:bodyPr>
          <a:lstStyle/>
          <a:p>
            <a:pPr algn="l">
              <a:lnSpc>
                <a:spcPts val="12000"/>
              </a:lnSpc>
            </a:pPr>
            <a:r>
              <a:rPr sz="12000" b="1" i="0" u="none">
                <a:solidFill>
                  <a:srgbClr val="000000"/>
                </a:solidFill>
                <a:latin typeface="Space Grotesk"/>
              </a:rPr>
              <a:t>06</a:t>
            </a:r>
          </a:p>
        </p:txBody>
      </p:sp>
      <p:sp>
        <p:nvSpPr>
          <p:cNvPr id="7" name="TextBox 6"/>
          <p:cNvSpPr txBox="1"/>
          <p:nvPr/>
        </p:nvSpPr>
        <p:spPr>
          <a:xfrm>
            <a:off x="609600" y="3414712"/>
            <a:ext cx="6572250" cy="381000"/>
          </a:xfrm>
          <a:prstGeom prst="rect">
            <a:avLst/>
          </a:prstGeom>
          <a:noFill/>
        </p:spPr>
        <p:txBody>
          <a:bodyPr wrap="none" lIns="0" tIns="0" rIns="0" bIns="0" anchor="t">
            <a:spAutoFit/>
          </a:bodyPr>
          <a:lstStyle/>
          <a:p>
            <a:pPr algn="l"/>
            <a:r>
              <a:rPr sz="2400" b="1" i="0" u="none">
                <a:solidFill>
                  <a:srgbClr val="000000"/>
                </a:solidFill>
                <a:latin typeface="Space Grotesk"/>
              </a:rPr>
              <a:t>BẬC ĐIỆN TÍNH TIỀN LŨY KẾ</a:t>
            </a:r>
          </a:p>
        </p:txBody>
      </p:sp>
      <p:sp>
        <p:nvSpPr>
          <p:cNvPr id="8" name="TextBox 7"/>
          <p:cNvSpPr txBox="1"/>
          <p:nvPr/>
        </p:nvSpPr>
        <p:spPr>
          <a:xfrm>
            <a:off x="942975" y="4510087"/>
            <a:ext cx="5738812" cy="238125"/>
          </a:xfrm>
          <a:prstGeom prst="rect">
            <a:avLst/>
          </a:prstGeom>
          <a:noFill/>
        </p:spPr>
        <p:txBody>
          <a:bodyPr wrap="none" lIns="0" tIns="0" rIns="0" bIns="0" anchor="t">
            <a:spAutoFit/>
          </a:bodyPr>
          <a:lstStyle/>
          <a:p>
            <a:pPr algn="l"/>
            <a:r>
              <a:rPr sz="1650" b="1" i="0" u="none">
                <a:solidFill>
                  <a:srgbClr val="000000"/>
                </a:solidFill>
                <a:latin typeface="monospace"/>
              </a:rPr>
              <a:t>UNIT TEST 250 kWh:</a:t>
            </a:r>
          </a:p>
        </p:txBody>
      </p:sp>
      <p:sp>
        <p:nvSpPr>
          <p:cNvPr id="9" name="TextBox 8"/>
          <p:cNvSpPr txBox="1"/>
          <p:nvPr/>
        </p:nvSpPr>
        <p:spPr>
          <a:xfrm>
            <a:off x="942975" y="4900612"/>
            <a:ext cx="5738812" cy="238125"/>
          </a:xfrm>
          <a:prstGeom prst="rect">
            <a:avLst/>
          </a:prstGeom>
          <a:noFill/>
        </p:spPr>
        <p:txBody>
          <a:bodyPr wrap="none" lIns="0" tIns="0" rIns="0" bIns="0" anchor="t">
            <a:spAutoFit/>
          </a:bodyPr>
          <a:lstStyle/>
          <a:p>
            <a:pPr algn="l"/>
            <a:r>
              <a:rPr sz="1650" b="0" i="0" u="none">
                <a:solidFill>
                  <a:srgbClr val="000000"/>
                </a:solidFill>
                <a:latin typeface="monospace"/>
              </a:rPr>
              <a:t>Tiền điện = 562.550 đ</a:t>
            </a:r>
          </a:p>
        </p:txBody>
      </p:sp>
      <p:sp>
        <p:nvSpPr>
          <p:cNvPr id="10" name="TextBox 9"/>
          <p:cNvSpPr txBox="1"/>
          <p:nvPr/>
        </p:nvSpPr>
        <p:spPr>
          <a:xfrm>
            <a:off x="942975" y="5214937"/>
            <a:ext cx="5738812" cy="238125"/>
          </a:xfrm>
          <a:prstGeom prst="rect">
            <a:avLst/>
          </a:prstGeom>
          <a:noFill/>
        </p:spPr>
        <p:txBody>
          <a:bodyPr wrap="none" lIns="0" tIns="0" rIns="0" bIns="0" anchor="t">
            <a:spAutoFit/>
          </a:bodyPr>
          <a:lstStyle/>
          <a:p>
            <a:pPr algn="l"/>
            <a:r>
              <a:rPr sz="1650" b="0" i="0" u="none">
                <a:solidFill>
                  <a:srgbClr val="000000"/>
                </a:solidFill>
                <a:latin typeface="monospace"/>
              </a:rPr>
              <a:t>+ VAT 8% = 45.004 đ</a:t>
            </a:r>
          </a:p>
        </p:txBody>
      </p:sp>
      <p:sp>
        <p:nvSpPr>
          <p:cNvPr id="11" name="TextBox 10"/>
          <p:cNvSpPr txBox="1"/>
          <p:nvPr/>
        </p:nvSpPr>
        <p:spPr>
          <a:xfrm>
            <a:off x="942975" y="5605462"/>
            <a:ext cx="4686300" cy="257175"/>
          </a:xfrm>
          <a:prstGeom prst="rect">
            <a:avLst/>
          </a:prstGeom>
          <a:noFill/>
        </p:spPr>
        <p:txBody>
          <a:bodyPr wrap="square" lIns="0" tIns="0" rIns="0" bIns="0" anchor="t">
            <a:spAutoFit/>
          </a:bodyPr>
          <a:lstStyle/>
          <a:p>
            <a:pPr algn="l"/>
            <a:r>
              <a:rPr sz="1650" b="0" i="0" u="none">
                <a:solidFill>
                  <a:srgbClr val="000000"/>
                </a:solidFill>
                <a:latin typeface="monospace"/>
              </a:rPr>
              <a:t>Tổng = 607.554 đ</a:t>
            </a:r>
          </a:p>
        </p:txBody>
      </p:sp>
      <p:sp>
        <p:nvSpPr>
          <p:cNvPr id="12" name="TextBox 11"/>
          <p:cNvSpPr txBox="1"/>
          <p:nvPr/>
        </p:nvSpPr>
        <p:spPr>
          <a:xfrm>
            <a:off x="6324600" y="2205186"/>
            <a:ext cx="5353050" cy="742801"/>
          </a:xfrm>
          <a:prstGeom prst="rect">
            <a:avLst/>
          </a:prstGeom>
          <a:noFill/>
        </p:spPr>
        <p:txBody>
          <a:bodyPr wrap="square" lIns="0" tIns="0" rIns="0" bIns="0" anchor="t">
            <a:spAutoFit/>
          </a:bodyPr>
          <a:lstStyle/>
          <a:p>
            <a:pPr algn="l">
              <a:lnSpc>
                <a:spcPts val="2520"/>
              </a:lnSpc>
            </a:pPr>
            <a:r>
              <a:rPr sz="2100" b="1" i="0" u="none">
                <a:solidFill>
                  <a:srgbClr val="000000"/>
                </a:solidFill>
                <a:latin typeface="Inter"/>
              </a:rPr>
              <a:t>■ </a:t>
            </a:r>
          </a:p>
        </p:txBody>
      </p:sp>
      <p:sp>
        <p:nvSpPr>
          <p:cNvPr id="13" name="TextBox 12"/>
          <p:cNvSpPr txBox="1"/>
          <p:nvPr/>
        </p:nvSpPr>
        <p:spPr>
          <a:xfrm>
            <a:off x="6324600" y="3557587"/>
            <a:ext cx="5353050" cy="742801"/>
          </a:xfrm>
          <a:prstGeom prst="rect">
            <a:avLst/>
          </a:prstGeom>
          <a:noFill/>
        </p:spPr>
        <p:txBody>
          <a:bodyPr wrap="square" lIns="0" tIns="0" rIns="0" bIns="0" anchor="t">
            <a:spAutoFit/>
          </a:bodyPr>
          <a:lstStyle/>
          <a:p>
            <a:pPr algn="l">
              <a:lnSpc>
                <a:spcPts val="2520"/>
              </a:lnSpc>
            </a:pPr>
            <a:r>
              <a:rPr sz="2100" b="1" i="0" u="none">
                <a:solidFill>
                  <a:srgbClr val="000000"/>
                </a:solidFill>
                <a:latin typeface="Inter"/>
              </a:rPr>
              <a:t>■ </a:t>
            </a:r>
          </a:p>
        </p:txBody>
      </p:sp>
      <p:sp>
        <p:nvSpPr>
          <p:cNvPr id="14" name="TextBox 13"/>
          <p:cNvSpPr txBox="1"/>
          <p:nvPr/>
        </p:nvSpPr>
        <p:spPr>
          <a:xfrm>
            <a:off x="6324600" y="4909988"/>
            <a:ext cx="5353050" cy="742801"/>
          </a:xfrm>
          <a:prstGeom prst="rect">
            <a:avLst/>
          </a:prstGeom>
          <a:noFill/>
        </p:spPr>
        <p:txBody>
          <a:bodyPr wrap="square" lIns="0" tIns="0" rIns="0" bIns="0" anchor="t">
            <a:spAutoFit/>
          </a:bodyPr>
          <a:lstStyle/>
          <a:p>
            <a:pPr algn="l">
              <a:lnSpc>
                <a:spcPts val="2520"/>
              </a:lnSpc>
            </a:pPr>
            <a:r>
              <a:rPr sz="2100" b="1" i="0" u="none">
                <a:solidFill>
                  <a:srgbClr val="000000"/>
                </a:solidFill>
                <a:latin typeface="Inter"/>
              </a:rPr>
              <a:t>■ </a:t>
            </a:r>
          </a:p>
        </p:txBody>
      </p:sp>
      <p:sp>
        <p:nvSpPr>
          <p:cNvPr id="15" name="TextBox 14"/>
          <p:cNvSpPr txBox="1"/>
          <p:nvPr/>
        </p:nvSpPr>
        <p:spPr>
          <a:xfrm>
            <a:off x="6580584" y="2205186"/>
            <a:ext cx="5611415" cy="373260"/>
          </a:xfrm>
          <a:prstGeom prst="rect">
            <a:avLst/>
          </a:prstGeom>
          <a:noFill/>
        </p:spPr>
        <p:txBody>
          <a:bodyPr wrap="none" lIns="0" tIns="0" rIns="0" bIns="0" anchor="t">
            <a:spAutoFit/>
          </a:bodyPr>
          <a:lstStyle/>
          <a:p>
            <a:pPr algn="l">
              <a:lnSpc>
                <a:spcPts val="2940"/>
              </a:lnSpc>
            </a:pPr>
            <a:r>
              <a:rPr sz="2100" b="1" i="0" u="none">
                <a:solidFill>
                  <a:srgbClr val="000000"/>
                </a:solidFill>
                <a:latin typeface="Inter"/>
              </a:rPr>
              <a:t>Quản lý dữ liệu (CRUD)</a:t>
            </a:r>
          </a:p>
        </p:txBody>
      </p:sp>
      <p:sp>
        <p:nvSpPr>
          <p:cNvPr id="16" name="TextBox 15"/>
          <p:cNvSpPr txBox="1"/>
          <p:nvPr/>
        </p:nvSpPr>
        <p:spPr>
          <a:xfrm>
            <a:off x="6580584" y="2654647"/>
            <a:ext cx="5611415" cy="293340"/>
          </a:xfrm>
          <a:prstGeom prst="rect">
            <a:avLst/>
          </a:prstGeom>
          <a:noFill/>
        </p:spPr>
        <p:txBody>
          <a:bodyPr wrap="none" lIns="0" tIns="0" rIns="0" bIns="0" anchor="t">
            <a:spAutoFit/>
          </a:bodyPr>
          <a:lstStyle/>
          <a:p>
            <a:pPr algn="l">
              <a:lnSpc>
                <a:spcPts val="2310"/>
              </a:lnSpc>
            </a:pPr>
            <a:r>
              <a:rPr sz="1650" b="0" i="0" u="none">
                <a:solidFill>
                  <a:srgbClr val="000000"/>
                </a:solidFill>
                <a:latin typeface="Inter"/>
              </a:rPr>
              <a:t>Phân trang 50 bản ghi, bắt lỗi trùng mã công tơ.</a:t>
            </a:r>
          </a:p>
        </p:txBody>
      </p:sp>
      <p:sp>
        <p:nvSpPr>
          <p:cNvPr id="17" name="TextBox 16"/>
          <p:cNvSpPr txBox="1"/>
          <p:nvPr/>
        </p:nvSpPr>
        <p:spPr>
          <a:xfrm>
            <a:off x="6580584" y="3557587"/>
            <a:ext cx="4263032" cy="373260"/>
          </a:xfrm>
          <a:prstGeom prst="rect">
            <a:avLst/>
          </a:prstGeom>
          <a:noFill/>
        </p:spPr>
        <p:txBody>
          <a:bodyPr wrap="none" lIns="0" tIns="0" rIns="0" bIns="0" anchor="t">
            <a:spAutoFit/>
          </a:bodyPr>
          <a:lstStyle/>
          <a:p>
            <a:pPr algn="l">
              <a:lnSpc>
                <a:spcPts val="2940"/>
              </a:lnSpc>
            </a:pPr>
            <a:r>
              <a:rPr sz="2100" b="1" i="0" u="none">
                <a:solidFill>
                  <a:srgbClr val="000000"/>
                </a:solidFill>
                <a:latin typeface="Inter"/>
              </a:rPr>
              <a:t>Tìm kiếm thông minh</a:t>
            </a:r>
          </a:p>
        </p:txBody>
      </p:sp>
      <p:sp>
        <p:nvSpPr>
          <p:cNvPr id="18" name="TextBox 17"/>
          <p:cNvSpPr txBox="1"/>
          <p:nvPr/>
        </p:nvSpPr>
        <p:spPr>
          <a:xfrm>
            <a:off x="6580584" y="4007048"/>
            <a:ext cx="4060031" cy="293340"/>
          </a:xfrm>
          <a:prstGeom prst="rect">
            <a:avLst/>
          </a:prstGeom>
          <a:noFill/>
        </p:spPr>
        <p:txBody>
          <a:bodyPr wrap="none" lIns="0" tIns="0" rIns="0" bIns="0" anchor="t">
            <a:spAutoFit/>
          </a:bodyPr>
          <a:lstStyle/>
          <a:p>
            <a:pPr algn="l">
              <a:lnSpc>
                <a:spcPts val="2310"/>
              </a:lnSpc>
            </a:pPr>
            <a:r>
              <a:rPr sz="1650" b="0" i="0" u="none">
                <a:solidFill>
                  <a:srgbClr val="000000"/>
                </a:solidFill>
                <a:latin typeface="Inter"/>
              </a:rPr>
              <a:t>Hỗ trợ Unicode tiếng Việt có dấu.</a:t>
            </a:r>
          </a:p>
        </p:txBody>
      </p:sp>
      <p:sp>
        <p:nvSpPr>
          <p:cNvPr id="19" name="TextBox 18"/>
          <p:cNvSpPr txBox="1"/>
          <p:nvPr/>
        </p:nvSpPr>
        <p:spPr>
          <a:xfrm>
            <a:off x="6580584" y="4909988"/>
            <a:ext cx="5611415" cy="373260"/>
          </a:xfrm>
          <a:prstGeom prst="rect">
            <a:avLst/>
          </a:prstGeom>
          <a:noFill/>
        </p:spPr>
        <p:txBody>
          <a:bodyPr wrap="none" lIns="0" tIns="0" rIns="0" bIns="0" anchor="t">
            <a:spAutoFit/>
          </a:bodyPr>
          <a:lstStyle/>
          <a:p>
            <a:pPr algn="l">
              <a:lnSpc>
                <a:spcPts val="2940"/>
              </a:lnSpc>
            </a:pPr>
            <a:r>
              <a:rPr sz="2100" b="1" i="0" u="none">
                <a:solidFill>
                  <a:srgbClr val="000000"/>
                </a:solidFill>
                <a:latin typeface="Inter"/>
              </a:rPr>
              <a:t>Cấu hình biểu giá động</a:t>
            </a:r>
          </a:p>
        </p:txBody>
      </p:sp>
      <p:sp>
        <p:nvSpPr>
          <p:cNvPr id="20" name="TextBox 19"/>
          <p:cNvSpPr txBox="1"/>
          <p:nvPr/>
        </p:nvSpPr>
        <p:spPr>
          <a:xfrm>
            <a:off x="6580584" y="5359449"/>
            <a:ext cx="5611415" cy="293340"/>
          </a:xfrm>
          <a:prstGeom prst="rect">
            <a:avLst/>
          </a:prstGeom>
          <a:noFill/>
        </p:spPr>
        <p:txBody>
          <a:bodyPr wrap="none" lIns="0" tIns="0" rIns="0" bIns="0" anchor="t">
            <a:spAutoFit/>
          </a:bodyPr>
          <a:lstStyle/>
          <a:p>
            <a:pPr algn="l">
              <a:lnSpc>
                <a:spcPts val="2310"/>
              </a:lnSpc>
            </a:pPr>
            <a:r>
              <a:rPr sz="1650" b="0" i="0" u="none">
                <a:solidFill>
                  <a:srgbClr val="000000"/>
                </a:solidFill>
                <a:latin typeface="Inter"/>
              </a:rPr>
              <a:t>Tự động tính lại khi thay đổi mức VAT và đơn giá.</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3057525"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 y="4695825"/>
            <a:ext cx="3403550" cy="1552575"/>
          </a:xfrm>
          <a:prstGeom prst="rect">
            <a:avLst/>
          </a:prstGeom>
          <a:no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394150" y="4695825"/>
            <a:ext cx="3403550" cy="1552575"/>
          </a:xfrm>
          <a:prstGeom prst="rect">
            <a:avLst/>
          </a:prstGeom>
          <a:no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78700" y="4695825"/>
            <a:ext cx="3403550" cy="1552575"/>
          </a:xfrm>
          <a:prstGeom prst="rect">
            <a:avLst/>
          </a:prstGeom>
          <a:no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9600" y="457200"/>
            <a:ext cx="3310413" cy="619125"/>
          </a:xfrm>
          <a:prstGeom prst="rect">
            <a:avLst/>
          </a:prstGeom>
          <a:noFill/>
        </p:spPr>
        <p:txBody>
          <a:bodyPr wrap="square" lIns="0" tIns="0" rIns="0" bIns="0" anchor="t">
            <a:spAutoFit/>
          </a:bodyPr>
          <a:lstStyle/>
          <a:p>
            <a:pPr algn="l"/>
            <a:r>
              <a:rPr sz="3600" b="1" i="0" u="none">
                <a:solidFill>
                  <a:srgbClr val="000000"/>
                </a:solidFill>
                <a:latin typeface="Space Grotesk"/>
              </a:rPr>
              <a:t>6. DASHBOARD</a:t>
            </a:r>
          </a:p>
        </p:txBody>
      </p:sp>
      <p:sp>
        <p:nvSpPr>
          <p:cNvPr id="7" name="TextBox 6"/>
          <p:cNvSpPr txBox="1"/>
          <p:nvPr/>
        </p:nvSpPr>
        <p:spPr>
          <a:xfrm>
            <a:off x="2262187" y="1838325"/>
            <a:ext cx="7667625" cy="1714500"/>
          </a:xfrm>
          <a:prstGeom prst="rect">
            <a:avLst/>
          </a:prstGeom>
          <a:noFill/>
        </p:spPr>
        <p:txBody>
          <a:bodyPr wrap="none" lIns="0" tIns="0" rIns="0" bIns="0" anchor="t">
            <a:spAutoFit/>
          </a:bodyPr>
          <a:lstStyle/>
          <a:p>
            <a:pPr algn="ctr">
              <a:lnSpc>
                <a:spcPts val="13500"/>
              </a:lnSpc>
            </a:pPr>
            <a:r>
              <a:rPr sz="15000" b="1" i="0" u="none">
                <a:solidFill>
                  <a:srgbClr val="000000"/>
                </a:solidFill>
                <a:latin typeface="Space Grotesk"/>
              </a:rPr>
              <a:t>27.580</a:t>
            </a:r>
          </a:p>
        </p:txBody>
      </p:sp>
      <p:sp>
        <p:nvSpPr>
          <p:cNvPr id="8" name="TextBox 7"/>
          <p:cNvSpPr txBox="1"/>
          <p:nvPr/>
        </p:nvSpPr>
        <p:spPr>
          <a:xfrm>
            <a:off x="2262187" y="3552825"/>
            <a:ext cx="7667625" cy="381000"/>
          </a:xfrm>
          <a:prstGeom prst="rect">
            <a:avLst/>
          </a:prstGeom>
          <a:noFill/>
        </p:spPr>
        <p:txBody>
          <a:bodyPr wrap="none" lIns="0" tIns="0" rIns="0" bIns="0" anchor="t">
            <a:spAutoFit/>
          </a:bodyPr>
          <a:lstStyle/>
          <a:p>
            <a:pPr algn="ctr"/>
            <a:r>
              <a:rPr sz="2400" b="1" i="0" u="none">
                <a:solidFill>
                  <a:srgbClr val="000000"/>
                </a:solidFill>
                <a:latin typeface="Space Grotesk"/>
              </a:rPr>
              <a:t>BẢN GHI DỮ LIỆU QUA 49 KỲ</a:t>
            </a:r>
          </a:p>
        </p:txBody>
      </p:sp>
      <p:sp>
        <p:nvSpPr>
          <p:cNvPr id="9" name="TextBox 8"/>
          <p:cNvSpPr txBox="1"/>
          <p:nvPr/>
        </p:nvSpPr>
        <p:spPr>
          <a:xfrm>
            <a:off x="942975" y="5029200"/>
            <a:ext cx="3421000" cy="457200"/>
          </a:xfrm>
          <a:prstGeom prst="rect">
            <a:avLst/>
          </a:prstGeom>
          <a:noFill/>
        </p:spPr>
        <p:txBody>
          <a:bodyPr wrap="none" lIns="0" tIns="0" rIns="0" bIns="0" anchor="t">
            <a:spAutoFit/>
          </a:bodyPr>
          <a:lstStyle/>
          <a:p>
            <a:pPr algn="l">
              <a:lnSpc>
                <a:spcPts val="3600"/>
              </a:lnSpc>
            </a:pPr>
            <a:r>
              <a:rPr sz="3600" b="1" i="0" u="none">
                <a:solidFill>
                  <a:srgbClr val="000000"/>
                </a:solidFill>
                <a:latin typeface="Space Grotesk"/>
              </a:rPr>
              <a:t>05</a:t>
            </a:r>
          </a:p>
        </p:txBody>
      </p:sp>
      <p:sp>
        <p:nvSpPr>
          <p:cNvPr id="10" name="TextBox 9"/>
          <p:cNvSpPr txBox="1"/>
          <p:nvPr/>
        </p:nvSpPr>
        <p:spPr>
          <a:xfrm>
            <a:off x="942975" y="5638800"/>
            <a:ext cx="3421000" cy="276225"/>
          </a:xfrm>
          <a:prstGeom prst="rect">
            <a:avLst/>
          </a:prstGeom>
          <a:noFill/>
        </p:spPr>
        <p:txBody>
          <a:bodyPr wrap="none" lIns="0" tIns="0" rIns="0" bIns="0" anchor="t">
            <a:spAutoFit/>
          </a:bodyPr>
          <a:lstStyle/>
          <a:p>
            <a:pPr algn="l"/>
            <a:r>
              <a:rPr sz="1800" b="1" i="0" u="none">
                <a:solidFill>
                  <a:srgbClr val="000000"/>
                </a:solidFill>
                <a:latin typeface="Inter"/>
              </a:rPr>
              <a:t>Chỉ số Bento KPI</a:t>
            </a:r>
          </a:p>
        </p:txBody>
      </p:sp>
      <p:sp>
        <p:nvSpPr>
          <p:cNvPr id="11" name="TextBox 10"/>
          <p:cNvSpPr txBox="1"/>
          <p:nvPr/>
        </p:nvSpPr>
        <p:spPr>
          <a:xfrm>
            <a:off x="4727525" y="5029200"/>
            <a:ext cx="3421000" cy="457200"/>
          </a:xfrm>
          <a:prstGeom prst="rect">
            <a:avLst/>
          </a:prstGeom>
          <a:noFill/>
        </p:spPr>
        <p:txBody>
          <a:bodyPr wrap="none" lIns="0" tIns="0" rIns="0" bIns="0" anchor="t">
            <a:spAutoFit/>
          </a:bodyPr>
          <a:lstStyle/>
          <a:p>
            <a:pPr algn="l">
              <a:lnSpc>
                <a:spcPts val="3600"/>
              </a:lnSpc>
            </a:pPr>
            <a:r>
              <a:rPr sz="3600" b="1" i="0" u="none">
                <a:solidFill>
                  <a:srgbClr val="000000"/>
                </a:solidFill>
                <a:latin typeface="Space Grotesk"/>
              </a:rPr>
              <a:t>04</a:t>
            </a:r>
          </a:p>
        </p:txBody>
      </p:sp>
      <p:sp>
        <p:nvSpPr>
          <p:cNvPr id="12" name="TextBox 11"/>
          <p:cNvSpPr txBox="1"/>
          <p:nvPr/>
        </p:nvSpPr>
        <p:spPr>
          <a:xfrm>
            <a:off x="4727525" y="5638800"/>
            <a:ext cx="3421000" cy="276225"/>
          </a:xfrm>
          <a:prstGeom prst="rect">
            <a:avLst/>
          </a:prstGeom>
          <a:noFill/>
        </p:spPr>
        <p:txBody>
          <a:bodyPr wrap="none" lIns="0" tIns="0" rIns="0" bIns="0" anchor="t">
            <a:spAutoFit/>
          </a:bodyPr>
          <a:lstStyle/>
          <a:p>
            <a:pPr algn="l"/>
            <a:r>
              <a:rPr sz="1800" b="1" i="0" u="none">
                <a:solidFill>
                  <a:srgbClr val="000000"/>
                </a:solidFill>
                <a:latin typeface="Inter"/>
              </a:rPr>
              <a:t>Biểu đồ Chart.js</a:t>
            </a:r>
          </a:p>
        </p:txBody>
      </p:sp>
      <p:sp>
        <p:nvSpPr>
          <p:cNvPr id="13" name="TextBox 12"/>
          <p:cNvSpPr txBox="1"/>
          <p:nvPr/>
        </p:nvSpPr>
        <p:spPr>
          <a:xfrm>
            <a:off x="8512075" y="5029200"/>
            <a:ext cx="3421000" cy="457200"/>
          </a:xfrm>
          <a:prstGeom prst="rect">
            <a:avLst/>
          </a:prstGeom>
          <a:noFill/>
        </p:spPr>
        <p:txBody>
          <a:bodyPr wrap="none" lIns="0" tIns="0" rIns="0" bIns="0" anchor="t">
            <a:spAutoFit/>
          </a:bodyPr>
          <a:lstStyle/>
          <a:p>
            <a:pPr algn="l">
              <a:lnSpc>
                <a:spcPts val="3600"/>
              </a:lnSpc>
            </a:pPr>
            <a:r>
              <a:rPr sz="3600" b="1" i="0" u="none">
                <a:solidFill>
                  <a:srgbClr val="000000"/>
                </a:solidFill>
                <a:latin typeface="Space Grotesk"/>
              </a:rPr>
              <a:t>20</a:t>
            </a:r>
          </a:p>
        </p:txBody>
      </p:sp>
      <p:sp>
        <p:nvSpPr>
          <p:cNvPr id="14" name="TextBox 13"/>
          <p:cNvSpPr txBox="1"/>
          <p:nvPr/>
        </p:nvSpPr>
        <p:spPr>
          <a:xfrm>
            <a:off x="8512075" y="5638800"/>
            <a:ext cx="3421000" cy="276225"/>
          </a:xfrm>
          <a:prstGeom prst="rect">
            <a:avLst/>
          </a:prstGeom>
          <a:noFill/>
        </p:spPr>
        <p:txBody>
          <a:bodyPr wrap="none" lIns="0" tIns="0" rIns="0" bIns="0" anchor="t">
            <a:spAutoFit/>
          </a:bodyPr>
          <a:lstStyle/>
          <a:p>
            <a:pPr algn="l"/>
            <a:r>
              <a:rPr sz="1800" b="1" i="0" u="none">
                <a:solidFill>
                  <a:srgbClr val="000000"/>
                </a:solidFill>
                <a:latin typeface="Inter"/>
              </a:rPr>
              <a:t>Khách hàng nợ cước lớn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5114925"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 y="1685925"/>
            <a:ext cx="5257800" cy="4714875"/>
          </a:xfrm>
          <a:prstGeom prst="rect">
            <a:avLst/>
          </a:prstGeom>
          <a:no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324600" y="1685925"/>
            <a:ext cx="5257800" cy="4714875"/>
          </a:xfrm>
          <a:prstGeom prst="rect">
            <a:avLst/>
          </a:prstGeom>
          <a:no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95375" y="2781300"/>
            <a:ext cx="428625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810375" y="2781300"/>
            <a:ext cx="4286250" cy="2857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9600" y="457200"/>
            <a:ext cx="6111711" cy="553998"/>
          </a:xfrm>
          <a:prstGeom prst="rect">
            <a:avLst/>
          </a:prstGeom>
          <a:noFill/>
        </p:spPr>
        <p:txBody>
          <a:bodyPr wrap="square" lIns="0" tIns="0" rIns="0" bIns="0" anchor="t">
            <a:spAutoFit/>
          </a:bodyPr>
          <a:lstStyle/>
          <a:p>
            <a:pPr algn="l"/>
            <a:r>
              <a:rPr lang="en-US" sz="3600" b="1" i="0" u="none" dirty="0">
                <a:solidFill>
                  <a:srgbClr val="000000"/>
                </a:solidFill>
                <a:latin typeface="Space Grotesk"/>
              </a:rPr>
              <a:t>7. </a:t>
            </a:r>
            <a:r>
              <a:rPr sz="3600" b="1" i="0" u="none" dirty="0">
                <a:solidFill>
                  <a:srgbClr val="000000"/>
                </a:solidFill>
                <a:latin typeface="Space Grotesk"/>
              </a:rPr>
              <a:t>THANH TOÁN &amp; GIAO DIỆN</a:t>
            </a:r>
          </a:p>
        </p:txBody>
      </p:sp>
      <p:sp>
        <p:nvSpPr>
          <p:cNvPr id="8" name="TextBox 7"/>
          <p:cNvSpPr txBox="1"/>
          <p:nvPr/>
        </p:nvSpPr>
        <p:spPr>
          <a:xfrm>
            <a:off x="1095375" y="2171700"/>
            <a:ext cx="4600575" cy="409575"/>
          </a:xfrm>
          <a:prstGeom prst="rect">
            <a:avLst/>
          </a:prstGeom>
          <a:noFill/>
        </p:spPr>
        <p:txBody>
          <a:bodyPr wrap="square" lIns="0" tIns="0" rIns="0" bIns="0" anchor="t">
            <a:spAutoFit/>
          </a:bodyPr>
          <a:lstStyle/>
          <a:p>
            <a:pPr algn="l">
              <a:lnSpc>
                <a:spcPts val="3000"/>
              </a:lnSpc>
            </a:pPr>
            <a:r>
              <a:rPr sz="3000" b="1" i="0" u="none">
                <a:solidFill>
                  <a:srgbClr val="000000"/>
                </a:solidFill>
                <a:latin typeface="Space Grotesk"/>
              </a:rPr>
              <a:t>Cổng Thanh Toán</a:t>
            </a:r>
          </a:p>
        </p:txBody>
      </p:sp>
      <p:sp>
        <p:nvSpPr>
          <p:cNvPr id="9" name="TextBox 8"/>
          <p:cNvSpPr txBox="1"/>
          <p:nvPr/>
        </p:nvSpPr>
        <p:spPr>
          <a:xfrm>
            <a:off x="6810375" y="2171700"/>
            <a:ext cx="4600575" cy="409575"/>
          </a:xfrm>
          <a:prstGeom prst="rect">
            <a:avLst/>
          </a:prstGeom>
          <a:noFill/>
        </p:spPr>
        <p:txBody>
          <a:bodyPr wrap="square" lIns="0" tIns="0" rIns="0" bIns="0" anchor="t">
            <a:spAutoFit/>
          </a:bodyPr>
          <a:lstStyle/>
          <a:p>
            <a:pPr algn="l">
              <a:lnSpc>
                <a:spcPts val="3000"/>
              </a:lnSpc>
            </a:pPr>
            <a:r>
              <a:rPr sz="3000" b="1" i="0" u="none">
                <a:solidFill>
                  <a:srgbClr val="000000"/>
                </a:solidFill>
                <a:latin typeface="Space Grotesk"/>
              </a:rPr>
              <a:t>Giao diện Flat UI</a:t>
            </a:r>
          </a:p>
        </p:txBody>
      </p:sp>
      <p:sp>
        <p:nvSpPr>
          <p:cNvPr id="10" name="TextBox 9"/>
          <p:cNvSpPr txBox="1"/>
          <p:nvPr/>
        </p:nvSpPr>
        <p:spPr>
          <a:xfrm>
            <a:off x="1095375" y="3190875"/>
            <a:ext cx="4381500"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PayOS VietQR:</a:t>
            </a:r>
            <a:r>
              <a:rPr sz="1800" b="0" i="0" u="none">
                <a:solidFill>
                  <a:srgbClr val="000000"/>
                </a:solidFill>
                <a:latin typeface="Inter"/>
              </a:rPr>
              <a:t> Quét mã trực tiếp qua App ngân hàng.</a:t>
            </a:r>
          </a:p>
        </p:txBody>
      </p:sp>
      <p:sp>
        <p:nvSpPr>
          <p:cNvPr id="11" name="TextBox 10"/>
          <p:cNvSpPr txBox="1"/>
          <p:nvPr/>
        </p:nvSpPr>
        <p:spPr>
          <a:xfrm>
            <a:off x="6810375" y="3190875"/>
            <a:ext cx="4381500"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Font kỹ thuật:</a:t>
            </a:r>
            <a:r>
              <a:rPr sz="1800" b="0" i="0" u="none">
                <a:solidFill>
                  <a:srgbClr val="000000"/>
                </a:solidFill>
                <a:latin typeface="Inter"/>
              </a:rPr>
              <a:t> Geist &amp; JetBrains Mono (căn số thẳng hàng).</a:t>
            </a:r>
          </a:p>
        </p:txBody>
      </p:sp>
      <p:sp>
        <p:nvSpPr>
          <p:cNvPr id="12" name="TextBox 11"/>
          <p:cNvSpPr txBox="1"/>
          <p:nvPr/>
        </p:nvSpPr>
        <p:spPr>
          <a:xfrm>
            <a:off x="6810375" y="4059435"/>
            <a:ext cx="4381500"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Màu Pastel:</a:t>
            </a:r>
            <a:r>
              <a:rPr sz="1800" b="0" i="0" u="none">
                <a:solidFill>
                  <a:srgbClr val="000000"/>
                </a:solidFill>
                <a:latin typeface="Inter"/>
              </a:rPr>
              <a:t> Xanh (Đã thanh toán), Vàng (Chưa đóng).</a:t>
            </a:r>
          </a:p>
        </p:txBody>
      </p:sp>
      <p:sp>
        <p:nvSpPr>
          <p:cNvPr id="13" name="TextBox 12"/>
          <p:cNvSpPr txBox="1"/>
          <p:nvPr/>
        </p:nvSpPr>
        <p:spPr>
          <a:xfrm>
            <a:off x="6810375" y="4927996"/>
            <a:ext cx="4381500"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 </a:t>
            </a:r>
            <a:r>
              <a:rPr sz="1800" b="1" i="0" u="none">
                <a:solidFill>
                  <a:srgbClr val="000000"/>
                </a:solidFill>
                <a:latin typeface="Inter"/>
              </a:rPr>
              <a:t>Độ nhất quán:</a:t>
            </a:r>
            <a:r>
              <a:rPr sz="1800" b="0" i="0" u="none">
                <a:solidFill>
                  <a:srgbClr val="000000"/>
                </a:solidFill>
                <a:latin typeface="Inter"/>
              </a:rPr>
              <a:t> Viền phẳng tối giản #EAEAEA.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4933950"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324600" y="2173337"/>
            <a:ext cx="5257800" cy="3848100"/>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9599" y="457200"/>
            <a:ext cx="5863827" cy="553998"/>
          </a:xfrm>
          <a:prstGeom prst="rect">
            <a:avLst/>
          </a:prstGeom>
          <a:noFill/>
        </p:spPr>
        <p:txBody>
          <a:bodyPr wrap="square" lIns="0" tIns="0" rIns="0" bIns="0" anchor="t">
            <a:spAutoFit/>
          </a:bodyPr>
          <a:lstStyle/>
          <a:p>
            <a:pPr algn="l"/>
            <a:r>
              <a:rPr lang="en-US" sz="3600" b="1" i="0" u="none" dirty="0">
                <a:solidFill>
                  <a:srgbClr val="000000"/>
                </a:solidFill>
                <a:latin typeface="Space Grotesk"/>
              </a:rPr>
              <a:t>8. </a:t>
            </a:r>
            <a:r>
              <a:rPr sz="3600" b="1" i="0" u="none" dirty="0">
                <a:solidFill>
                  <a:srgbClr val="000000"/>
                </a:solidFill>
                <a:latin typeface="Space Grotesk"/>
              </a:rPr>
              <a:t>TỰ ĐỘNG HÓA KIỂM THỬ</a:t>
            </a:r>
          </a:p>
        </p:txBody>
      </p:sp>
      <p:sp>
        <p:nvSpPr>
          <p:cNvPr id="5" name="TextBox 4"/>
          <p:cNvSpPr txBox="1"/>
          <p:nvPr/>
        </p:nvSpPr>
        <p:spPr>
          <a:xfrm>
            <a:off x="6191250" y="2973437"/>
            <a:ext cx="5524500" cy="1333500"/>
          </a:xfrm>
          <a:prstGeom prst="rect">
            <a:avLst/>
          </a:prstGeom>
          <a:noFill/>
        </p:spPr>
        <p:txBody>
          <a:bodyPr wrap="none" lIns="0" tIns="0" rIns="0" bIns="0" anchor="t">
            <a:spAutoFit/>
          </a:bodyPr>
          <a:lstStyle/>
          <a:p>
            <a:pPr algn="ctr">
              <a:lnSpc>
                <a:spcPts val="10500"/>
              </a:lnSpc>
            </a:pPr>
            <a:r>
              <a:rPr sz="10500" b="1" i="0" u="none">
                <a:solidFill>
                  <a:srgbClr val="000000"/>
                </a:solidFill>
                <a:latin typeface="Space Grotesk"/>
              </a:rPr>
              <a:t>~2.6s</a:t>
            </a:r>
          </a:p>
        </p:txBody>
      </p:sp>
      <p:sp>
        <p:nvSpPr>
          <p:cNvPr id="6" name="TextBox 5"/>
          <p:cNvSpPr txBox="1"/>
          <p:nvPr/>
        </p:nvSpPr>
        <p:spPr>
          <a:xfrm>
            <a:off x="6191250" y="4535537"/>
            <a:ext cx="5524500" cy="685800"/>
          </a:xfrm>
          <a:prstGeom prst="rect">
            <a:avLst/>
          </a:prstGeom>
          <a:noFill/>
        </p:spPr>
        <p:txBody>
          <a:bodyPr wrap="square" lIns="0" tIns="0" rIns="0" bIns="0" anchor="t">
            <a:spAutoFit/>
          </a:bodyPr>
          <a:lstStyle/>
          <a:p>
            <a:pPr algn="ctr"/>
            <a:r>
              <a:rPr sz="2100" b="1" i="0" u="none">
                <a:solidFill>
                  <a:srgbClr val="000000"/>
                </a:solidFill>
                <a:latin typeface="Space Grotesk"/>
              </a:rPr>
              <a:t>THỜI GIAN THỰC THI 23 KỊCH BẢN TEST</a:t>
            </a:r>
          </a:p>
        </p:txBody>
      </p:sp>
      <p:sp>
        <p:nvSpPr>
          <p:cNvPr id="7" name="TextBox 6"/>
          <p:cNvSpPr txBox="1"/>
          <p:nvPr/>
        </p:nvSpPr>
        <p:spPr>
          <a:xfrm>
            <a:off x="609600" y="1685925"/>
            <a:ext cx="5353050" cy="1180951"/>
          </a:xfrm>
          <a:prstGeom prst="rect">
            <a:avLst/>
          </a:prstGeom>
          <a:noFill/>
        </p:spPr>
        <p:txBody>
          <a:bodyPr wrap="square" lIns="0" tIns="0" rIns="0" bIns="0" anchor="t">
            <a:spAutoFit/>
          </a:bodyPr>
          <a:lstStyle/>
          <a:p>
            <a:pPr algn="l">
              <a:lnSpc>
                <a:spcPts val="2520"/>
              </a:lnSpc>
            </a:pPr>
            <a:r>
              <a:rPr sz="2400" b="1" i="0" u="none">
                <a:solidFill>
                  <a:srgbClr val="000000"/>
                </a:solidFill>
                <a:latin typeface="Inter"/>
              </a:rPr>
              <a:t>■ </a:t>
            </a:r>
          </a:p>
        </p:txBody>
      </p:sp>
      <p:sp>
        <p:nvSpPr>
          <p:cNvPr id="8" name="TextBox 7"/>
          <p:cNvSpPr txBox="1"/>
          <p:nvPr/>
        </p:nvSpPr>
        <p:spPr>
          <a:xfrm>
            <a:off x="609600" y="3552676"/>
            <a:ext cx="5353050" cy="1180951"/>
          </a:xfrm>
          <a:prstGeom prst="rect">
            <a:avLst/>
          </a:prstGeom>
          <a:noFill/>
        </p:spPr>
        <p:txBody>
          <a:bodyPr wrap="square" lIns="0" tIns="0" rIns="0" bIns="0" anchor="t">
            <a:spAutoFit/>
          </a:bodyPr>
          <a:lstStyle/>
          <a:p>
            <a:pPr algn="l">
              <a:lnSpc>
                <a:spcPts val="2520"/>
              </a:lnSpc>
            </a:pPr>
            <a:r>
              <a:rPr sz="2400" b="1" i="0" u="none">
                <a:solidFill>
                  <a:srgbClr val="000000"/>
                </a:solidFill>
                <a:latin typeface="Inter"/>
              </a:rPr>
              <a:t>■ </a:t>
            </a:r>
          </a:p>
        </p:txBody>
      </p:sp>
      <p:sp>
        <p:nvSpPr>
          <p:cNvPr id="9" name="TextBox 8"/>
          <p:cNvSpPr txBox="1"/>
          <p:nvPr/>
        </p:nvSpPr>
        <p:spPr>
          <a:xfrm>
            <a:off x="609600" y="5419427"/>
            <a:ext cx="5353050" cy="860970"/>
          </a:xfrm>
          <a:prstGeom prst="rect">
            <a:avLst/>
          </a:prstGeom>
          <a:noFill/>
        </p:spPr>
        <p:txBody>
          <a:bodyPr wrap="square" lIns="0" tIns="0" rIns="0" bIns="0" anchor="t">
            <a:spAutoFit/>
          </a:bodyPr>
          <a:lstStyle/>
          <a:p>
            <a:pPr algn="l">
              <a:lnSpc>
                <a:spcPts val="2520"/>
              </a:lnSpc>
            </a:pPr>
            <a:r>
              <a:rPr sz="2400" b="1" i="0" u="none">
                <a:solidFill>
                  <a:srgbClr val="000000"/>
                </a:solidFill>
                <a:latin typeface="Inter"/>
              </a:rPr>
              <a:t>■ </a:t>
            </a:r>
          </a:p>
        </p:txBody>
      </p:sp>
      <p:sp>
        <p:nvSpPr>
          <p:cNvPr id="10" name="TextBox 9"/>
          <p:cNvSpPr txBox="1"/>
          <p:nvPr/>
        </p:nvSpPr>
        <p:spPr>
          <a:xfrm>
            <a:off x="865584" y="1685925"/>
            <a:ext cx="6564883" cy="426690"/>
          </a:xfrm>
          <a:prstGeom prst="rect">
            <a:avLst/>
          </a:prstGeom>
          <a:noFill/>
        </p:spPr>
        <p:txBody>
          <a:bodyPr wrap="none" lIns="0" tIns="0" rIns="0" bIns="0" anchor="t">
            <a:spAutoFit/>
          </a:bodyPr>
          <a:lstStyle/>
          <a:p>
            <a:pPr algn="l">
              <a:lnSpc>
                <a:spcPts val="3359"/>
              </a:lnSpc>
            </a:pPr>
            <a:r>
              <a:rPr sz="2400" b="1" i="0" u="none">
                <a:solidFill>
                  <a:srgbClr val="000000"/>
                </a:solidFill>
                <a:latin typeface="Inter"/>
              </a:rPr>
              <a:t>Node.js Native Runner</a:t>
            </a:r>
          </a:p>
        </p:txBody>
      </p:sp>
      <p:sp>
        <p:nvSpPr>
          <p:cNvPr id="11" name="TextBox 10"/>
          <p:cNvSpPr txBox="1"/>
          <p:nvPr/>
        </p:nvSpPr>
        <p:spPr>
          <a:xfrm>
            <a:off x="865584" y="2226915"/>
            <a:ext cx="5097065"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Khởi động tức thì, không phụ thuộc Jest/Mocha.</a:t>
            </a:r>
          </a:p>
        </p:txBody>
      </p:sp>
      <p:sp>
        <p:nvSpPr>
          <p:cNvPr id="12" name="TextBox 11"/>
          <p:cNvSpPr txBox="1"/>
          <p:nvPr/>
        </p:nvSpPr>
        <p:spPr>
          <a:xfrm>
            <a:off x="865584" y="3552676"/>
            <a:ext cx="6564883" cy="426690"/>
          </a:xfrm>
          <a:prstGeom prst="rect">
            <a:avLst/>
          </a:prstGeom>
          <a:noFill/>
        </p:spPr>
        <p:txBody>
          <a:bodyPr wrap="none" lIns="0" tIns="0" rIns="0" bIns="0" anchor="t">
            <a:spAutoFit/>
          </a:bodyPr>
          <a:lstStyle/>
          <a:p>
            <a:pPr algn="l">
              <a:lnSpc>
                <a:spcPts val="3359"/>
              </a:lnSpc>
            </a:pPr>
            <a:r>
              <a:rPr sz="2400" b="1" i="0" u="none">
                <a:solidFill>
                  <a:srgbClr val="000000"/>
                </a:solidFill>
                <a:latin typeface="Inter"/>
              </a:rPr>
              <a:t>Tối ưu hóa SQLite</a:t>
            </a:r>
          </a:p>
        </p:txBody>
      </p:sp>
      <p:sp>
        <p:nvSpPr>
          <p:cNvPr id="13" name="TextBox 12"/>
          <p:cNvSpPr txBox="1"/>
          <p:nvPr/>
        </p:nvSpPr>
        <p:spPr>
          <a:xfrm>
            <a:off x="865584" y="4093666"/>
            <a:ext cx="5097065" cy="639960"/>
          </a:xfrm>
          <a:prstGeom prst="rect">
            <a:avLst/>
          </a:prstGeom>
          <a:noFill/>
        </p:spPr>
        <p:txBody>
          <a:bodyPr wrap="square" lIns="0" tIns="0" rIns="0" bIns="0" anchor="t">
            <a:spAutoFit/>
          </a:bodyPr>
          <a:lstStyle/>
          <a:p>
            <a:pPr algn="l">
              <a:lnSpc>
                <a:spcPts val="2520"/>
              </a:lnSpc>
            </a:pPr>
            <a:r>
              <a:rPr sz="1800" b="0" i="0" u="none">
                <a:solidFill>
                  <a:srgbClr val="000000"/>
                </a:solidFill>
                <a:latin typeface="Inter"/>
              </a:rPr>
              <a:t>Cấu hình concurrency=1 tránh lỗi khóa database.</a:t>
            </a:r>
          </a:p>
        </p:txBody>
      </p:sp>
      <p:sp>
        <p:nvSpPr>
          <p:cNvPr id="14" name="TextBox 13"/>
          <p:cNvSpPr txBox="1"/>
          <p:nvPr/>
        </p:nvSpPr>
        <p:spPr>
          <a:xfrm>
            <a:off x="865584" y="5419427"/>
            <a:ext cx="5888235" cy="426690"/>
          </a:xfrm>
          <a:prstGeom prst="rect">
            <a:avLst/>
          </a:prstGeom>
          <a:noFill/>
        </p:spPr>
        <p:txBody>
          <a:bodyPr wrap="none" lIns="0" tIns="0" rIns="0" bIns="0" anchor="t">
            <a:spAutoFit/>
          </a:bodyPr>
          <a:lstStyle/>
          <a:p>
            <a:pPr algn="l">
              <a:lnSpc>
                <a:spcPts val="3359"/>
              </a:lnSpc>
            </a:pPr>
            <a:r>
              <a:rPr sz="2400" b="1" i="0" u="none">
                <a:solidFill>
                  <a:srgbClr val="000000"/>
                </a:solidFill>
                <a:latin typeface="Inter"/>
              </a:rPr>
              <a:t>Cấu trúc độc lập</a:t>
            </a:r>
          </a:p>
        </p:txBody>
      </p:sp>
      <p:sp>
        <p:nvSpPr>
          <p:cNvPr id="15" name="TextBox 14"/>
          <p:cNvSpPr txBox="1"/>
          <p:nvPr/>
        </p:nvSpPr>
        <p:spPr>
          <a:xfrm>
            <a:off x="865584" y="5960417"/>
            <a:ext cx="5607843" cy="319980"/>
          </a:xfrm>
          <a:prstGeom prst="rect">
            <a:avLst/>
          </a:prstGeom>
          <a:noFill/>
        </p:spPr>
        <p:txBody>
          <a:bodyPr wrap="none" lIns="0" tIns="0" rIns="0" bIns="0" anchor="t">
            <a:spAutoFit/>
          </a:bodyPr>
          <a:lstStyle/>
          <a:p>
            <a:pPr algn="l">
              <a:lnSpc>
                <a:spcPts val="2520"/>
              </a:lnSpc>
            </a:pPr>
            <a:r>
              <a:rPr sz="1800" b="0" i="0" u="none">
                <a:solidFill>
                  <a:srgbClr val="000000"/>
                </a:solidFill>
                <a:latin typeface="Inter"/>
              </a:rPr>
              <a:t>Phân tách rõ module Customer và Admin.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609600" y="1190625"/>
            <a:ext cx="4981575"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09600" y="2724150"/>
            <a:ext cx="3352800" cy="155257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419600" y="2724150"/>
            <a:ext cx="3352800" cy="155257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0" y="2724150"/>
            <a:ext cx="3352800" cy="155257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09600" y="4238625"/>
            <a:ext cx="3352800"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419600" y="4238625"/>
            <a:ext cx="3352800"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229600" y="4238625"/>
            <a:ext cx="3352800" cy="381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09600" y="457200"/>
            <a:ext cx="5913748" cy="553998"/>
          </a:xfrm>
          <a:prstGeom prst="rect">
            <a:avLst/>
          </a:prstGeom>
          <a:noFill/>
        </p:spPr>
        <p:txBody>
          <a:bodyPr wrap="square" lIns="0" tIns="0" rIns="0" bIns="0" anchor="t">
            <a:spAutoFit/>
          </a:bodyPr>
          <a:lstStyle/>
          <a:p>
            <a:pPr algn="l"/>
            <a:r>
              <a:rPr lang="en-US" sz="3600" b="1" i="0" u="none" dirty="0">
                <a:solidFill>
                  <a:srgbClr val="000000"/>
                </a:solidFill>
                <a:latin typeface="Space Grotesk"/>
              </a:rPr>
              <a:t>9. </a:t>
            </a:r>
            <a:r>
              <a:rPr sz="3600" b="1" i="0" u="none" dirty="0">
                <a:solidFill>
                  <a:srgbClr val="000000"/>
                </a:solidFill>
                <a:latin typeface="Space Grotesk"/>
              </a:rPr>
              <a:t>NGHIỆM THU &amp; BÀN GIAO</a:t>
            </a:r>
          </a:p>
        </p:txBody>
      </p:sp>
      <p:sp>
        <p:nvSpPr>
          <p:cNvPr id="10" name="TextBox 9"/>
          <p:cNvSpPr txBox="1"/>
          <p:nvPr/>
        </p:nvSpPr>
        <p:spPr>
          <a:xfrm>
            <a:off x="938510" y="5038725"/>
            <a:ext cx="3642382" cy="323850"/>
          </a:xfrm>
          <a:prstGeom prst="rect">
            <a:avLst/>
          </a:prstGeom>
          <a:noFill/>
        </p:spPr>
        <p:txBody>
          <a:bodyPr wrap="none" lIns="0" tIns="0" rIns="0" bIns="0" anchor="t">
            <a:spAutoFit/>
          </a:bodyPr>
          <a:lstStyle/>
          <a:p>
            <a:pPr algn="l"/>
            <a:r>
              <a:rPr sz="2100" b="1" i="0" u="none">
                <a:solidFill>
                  <a:srgbClr val="000000"/>
                </a:solidFill>
                <a:latin typeface="Inter"/>
              </a:rPr>
              <a:t>■ Đặc tả yêu cầu (SRS)</a:t>
            </a:r>
          </a:p>
        </p:txBody>
      </p:sp>
      <p:sp>
        <p:nvSpPr>
          <p:cNvPr id="11" name="TextBox 10"/>
          <p:cNvSpPr txBox="1"/>
          <p:nvPr/>
        </p:nvSpPr>
        <p:spPr>
          <a:xfrm>
            <a:off x="4510385" y="5038725"/>
            <a:ext cx="5142569" cy="323850"/>
          </a:xfrm>
          <a:prstGeom prst="rect">
            <a:avLst/>
          </a:prstGeom>
          <a:noFill/>
        </p:spPr>
        <p:txBody>
          <a:bodyPr wrap="none" lIns="0" tIns="0" rIns="0" bIns="0" anchor="t">
            <a:spAutoFit/>
          </a:bodyPr>
          <a:lstStyle/>
          <a:p>
            <a:pPr algn="l"/>
            <a:r>
              <a:rPr sz="2100" b="1" i="0" u="none">
                <a:solidFill>
                  <a:srgbClr val="000000"/>
                </a:solidFill>
                <a:latin typeface="Inter"/>
              </a:rPr>
              <a:t>■ Kế hoạch kiểm thử (Test Plan)</a:t>
            </a:r>
          </a:p>
        </p:txBody>
      </p:sp>
      <p:sp>
        <p:nvSpPr>
          <p:cNvPr id="12" name="TextBox 11"/>
          <p:cNvSpPr txBox="1"/>
          <p:nvPr/>
        </p:nvSpPr>
        <p:spPr>
          <a:xfrm>
            <a:off x="9282410" y="5038725"/>
            <a:ext cx="2463663" cy="323850"/>
          </a:xfrm>
          <a:prstGeom prst="rect">
            <a:avLst/>
          </a:prstGeom>
          <a:noFill/>
        </p:spPr>
        <p:txBody>
          <a:bodyPr wrap="none" lIns="0" tIns="0" rIns="0" bIns="0" anchor="t">
            <a:spAutoFit/>
          </a:bodyPr>
          <a:lstStyle/>
          <a:p>
            <a:pPr algn="l"/>
            <a:r>
              <a:rPr sz="2100" b="1" i="0" u="none">
                <a:solidFill>
                  <a:srgbClr val="000000"/>
                </a:solidFill>
                <a:latin typeface="Inter"/>
              </a:rPr>
              <a:t>■ Ma trận Excel</a:t>
            </a:r>
          </a:p>
        </p:txBody>
      </p:sp>
      <p:sp>
        <p:nvSpPr>
          <p:cNvPr id="13" name="TextBox 12"/>
          <p:cNvSpPr txBox="1"/>
          <p:nvPr/>
        </p:nvSpPr>
        <p:spPr>
          <a:xfrm>
            <a:off x="609600" y="2724150"/>
            <a:ext cx="4191000" cy="762000"/>
          </a:xfrm>
          <a:prstGeom prst="rect">
            <a:avLst/>
          </a:prstGeom>
          <a:noFill/>
        </p:spPr>
        <p:txBody>
          <a:bodyPr wrap="none" lIns="0" tIns="0" rIns="0" bIns="0" anchor="t">
            <a:spAutoFit/>
          </a:bodyPr>
          <a:lstStyle/>
          <a:p>
            <a:pPr algn="l">
              <a:lnSpc>
                <a:spcPts val="6000"/>
              </a:lnSpc>
            </a:pPr>
            <a:r>
              <a:rPr sz="6000" b="1" i="0" u="none">
                <a:solidFill>
                  <a:srgbClr val="000000"/>
                </a:solidFill>
                <a:latin typeface="Space Grotesk"/>
              </a:rPr>
              <a:t>100%</a:t>
            </a:r>
          </a:p>
        </p:txBody>
      </p:sp>
      <p:sp>
        <p:nvSpPr>
          <p:cNvPr id="14" name="TextBox 13"/>
          <p:cNvSpPr txBox="1"/>
          <p:nvPr/>
        </p:nvSpPr>
        <p:spPr>
          <a:xfrm>
            <a:off x="609600" y="3638550"/>
            <a:ext cx="4191000" cy="295275"/>
          </a:xfrm>
          <a:prstGeom prst="rect">
            <a:avLst/>
          </a:prstGeom>
          <a:noFill/>
        </p:spPr>
        <p:txBody>
          <a:bodyPr wrap="none" lIns="0" tIns="0" rIns="0" bIns="0" anchor="t">
            <a:spAutoFit/>
          </a:bodyPr>
          <a:lstStyle/>
          <a:p>
            <a:pPr algn="l"/>
            <a:r>
              <a:rPr sz="1950" b="1" i="0" u="none">
                <a:solidFill>
                  <a:srgbClr val="000000"/>
                </a:solidFill>
                <a:latin typeface="Inter"/>
              </a:rPr>
              <a:t>Ca kiểm thử Passed</a:t>
            </a:r>
          </a:p>
        </p:txBody>
      </p:sp>
      <p:sp>
        <p:nvSpPr>
          <p:cNvPr id="15" name="TextBox 14"/>
          <p:cNvSpPr txBox="1"/>
          <p:nvPr/>
        </p:nvSpPr>
        <p:spPr>
          <a:xfrm>
            <a:off x="4419600" y="2724150"/>
            <a:ext cx="4191000" cy="762000"/>
          </a:xfrm>
          <a:prstGeom prst="rect">
            <a:avLst/>
          </a:prstGeom>
          <a:noFill/>
        </p:spPr>
        <p:txBody>
          <a:bodyPr wrap="none" lIns="0" tIns="0" rIns="0" bIns="0" anchor="t">
            <a:spAutoFit/>
          </a:bodyPr>
          <a:lstStyle/>
          <a:p>
            <a:pPr algn="l">
              <a:lnSpc>
                <a:spcPts val="6000"/>
              </a:lnSpc>
            </a:pPr>
            <a:r>
              <a:rPr sz="6000" b="1" i="0" u="none">
                <a:solidFill>
                  <a:srgbClr val="000000"/>
                </a:solidFill>
                <a:latin typeface="Space Grotesk"/>
              </a:rPr>
              <a:t>0</a:t>
            </a:r>
          </a:p>
        </p:txBody>
      </p:sp>
      <p:sp>
        <p:nvSpPr>
          <p:cNvPr id="16" name="TextBox 15"/>
          <p:cNvSpPr txBox="1"/>
          <p:nvPr/>
        </p:nvSpPr>
        <p:spPr>
          <a:xfrm>
            <a:off x="4419600" y="3638550"/>
            <a:ext cx="4191000" cy="295275"/>
          </a:xfrm>
          <a:prstGeom prst="rect">
            <a:avLst/>
          </a:prstGeom>
          <a:noFill/>
        </p:spPr>
        <p:txBody>
          <a:bodyPr wrap="none" lIns="0" tIns="0" rIns="0" bIns="0" anchor="t">
            <a:spAutoFit/>
          </a:bodyPr>
          <a:lstStyle/>
          <a:p>
            <a:pPr algn="l"/>
            <a:r>
              <a:rPr sz="1950" b="1" i="0" u="none">
                <a:solidFill>
                  <a:srgbClr val="000000"/>
                </a:solidFill>
                <a:latin typeface="Inter"/>
              </a:rPr>
              <a:t>Lỗi mức độ Critical</a:t>
            </a:r>
          </a:p>
        </p:txBody>
      </p:sp>
      <p:sp>
        <p:nvSpPr>
          <p:cNvPr id="17" name="TextBox 16"/>
          <p:cNvSpPr txBox="1"/>
          <p:nvPr/>
        </p:nvSpPr>
        <p:spPr>
          <a:xfrm>
            <a:off x="8229600" y="2724150"/>
            <a:ext cx="3962400" cy="762000"/>
          </a:xfrm>
          <a:prstGeom prst="rect">
            <a:avLst/>
          </a:prstGeom>
          <a:noFill/>
        </p:spPr>
        <p:txBody>
          <a:bodyPr wrap="none" lIns="0" tIns="0" rIns="0" bIns="0" anchor="t">
            <a:spAutoFit/>
          </a:bodyPr>
          <a:lstStyle/>
          <a:p>
            <a:pPr algn="l">
              <a:lnSpc>
                <a:spcPts val="6000"/>
              </a:lnSpc>
            </a:pPr>
            <a:r>
              <a:rPr sz="6000" b="1" i="0" u="none">
                <a:solidFill>
                  <a:srgbClr val="000000"/>
                </a:solidFill>
                <a:latin typeface="Space Grotesk"/>
              </a:rPr>
              <a:t>3</a:t>
            </a:r>
          </a:p>
        </p:txBody>
      </p:sp>
      <p:sp>
        <p:nvSpPr>
          <p:cNvPr id="18" name="TextBox 17"/>
          <p:cNvSpPr txBox="1"/>
          <p:nvPr/>
        </p:nvSpPr>
        <p:spPr>
          <a:xfrm>
            <a:off x="8229600" y="3638550"/>
            <a:ext cx="3962400" cy="295275"/>
          </a:xfrm>
          <a:prstGeom prst="rect">
            <a:avLst/>
          </a:prstGeom>
          <a:noFill/>
        </p:spPr>
        <p:txBody>
          <a:bodyPr wrap="none" lIns="0" tIns="0" rIns="0" bIns="0" anchor="t">
            <a:spAutoFit/>
          </a:bodyPr>
          <a:lstStyle/>
          <a:p>
            <a:pPr algn="l"/>
            <a:r>
              <a:rPr sz="1950" b="1" i="0" u="none">
                <a:solidFill>
                  <a:srgbClr val="000000"/>
                </a:solidFill>
                <a:latin typeface="Inter"/>
              </a:rPr>
              <a:t>Bộ tài liệu bàn giao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345281" y="2514600"/>
            <a:ext cx="11501437" cy="1828800"/>
          </a:xfrm>
          <a:prstGeom prst="rect">
            <a:avLst/>
          </a:prstGeom>
          <a:noFill/>
        </p:spPr>
        <p:txBody>
          <a:bodyPr wrap="square" lIns="0" tIns="0" rIns="0" bIns="0" anchor="t">
            <a:spAutoFit/>
          </a:bodyPr>
          <a:lstStyle/>
          <a:p>
            <a:pPr algn="ctr">
              <a:lnSpc>
                <a:spcPts val="7200"/>
              </a:lnSpc>
            </a:pPr>
            <a:r>
              <a:rPr sz="6000" b="1" i="0" u="none">
                <a:solidFill>
                  <a:srgbClr val="000000"/>
                </a:solidFill>
                <a:latin typeface="Space Grotesk"/>
              </a:rPr>
              <a:t>Cảm ơn thầy và các bạn</a:t>
            </a:r>
            <a:r>
              <a:t>
</a:t>
            </a:r>
            <a:r>
              <a:rPr sz="6000" b="1" i="0" u="none">
                <a:solidFill>
                  <a:srgbClr val="000000"/>
                </a:solidFill>
                <a:latin typeface="Space Grotesk"/>
              </a:rPr>
              <a:t> đã lắng nghe!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2028</Words>
  <Application>Microsoft Office PowerPoint</Application>
  <PresentationFormat>Widescreen</PresentationFormat>
  <Paragraphs>159</Paragraphs>
  <Slides>12</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Space Grotesk</vt:lpstr>
      <vt:lpstr>Inter</vt:lpstr>
      <vt:lpstr>Calibri</vt:lpstr>
      <vt:lpstr>monospace</vt:lpstr>
      <vt:lpstr>Arial</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Dam Anh Phap</cp:lastModifiedBy>
  <cp:revision>4</cp:revision>
  <dcterms:created xsi:type="dcterms:W3CDTF">2013-01-27T09:14:16Z</dcterms:created>
  <dcterms:modified xsi:type="dcterms:W3CDTF">2026-10-23T05:35:53Z</dcterms:modified>
  <cp:category/>
</cp:coreProperties>
</file>