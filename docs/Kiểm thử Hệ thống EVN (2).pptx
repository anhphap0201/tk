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embeddedFontLst>
    <p:embeddedFont>
      <p:font typeface="Inter"/>
      <p:bold r:id="rId14"/>
    </p:embeddedFont>
    <p:embeddedFont>
      <p:font typeface="Space Grotesk"/>
      <p:bold r:id="rId15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2" d="100"/>
          <a:sy n="102" d="100"/>
        </p:scale>
        <p:origin x="876" y="11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09600" y="4657725"/>
            <a:ext cx="10477500" cy="13906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09600" y="4657725"/>
            <a:ext cx="10477500" cy="28575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09600" y="809625"/>
            <a:ext cx="11582400" cy="3429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100" b="1" i="0" u="none">
                <a:solidFill>
                  <a:srgbClr val="000000"/>
                </a:solidFill>
                <a:latin typeface="Space Grotesk"/>
              </a:rPr>
              <a:t>BÁO CÁO BÀI TẬP LỚN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1381125"/>
            <a:ext cx="11101387" cy="2743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7200"/>
              </a:lnSpc>
            </a:pPr>
            <a:r>
              <a:rPr sz="6000" b="1" i="0" u="none" dirty="0">
                <a:solidFill>
                  <a:srgbClr val="000000"/>
                </a:solidFill>
                <a:latin typeface="Space Grotesk"/>
              </a:rPr>
              <a:t>KIỂM ĐỊNH CHẤT LƯỢNG</a:t>
            </a:r>
            <a:r>
              <a:rPr dirty="0"/>
              <a:t>
</a:t>
            </a:r>
            <a:r>
              <a:rPr sz="6000" b="1" i="0" u="none" dirty="0">
                <a:solidFill>
                  <a:srgbClr val="000000"/>
                </a:solidFill>
                <a:latin typeface="Space Grotesk"/>
              </a:rPr>
              <a:t> HỆ THỐNG TRA CỨU TIỀN ĐIỆN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5067300"/>
            <a:ext cx="4071937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555555"/>
                </a:solidFill>
                <a:latin typeface="Inter"/>
              </a:rPr>
              <a:t>SINH VIÊN THỰC HIỆN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5381625"/>
            <a:ext cx="4071937" cy="2952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950" b="1" i="0" u="none">
                <a:solidFill>
                  <a:srgbClr val="000000"/>
                </a:solidFill>
                <a:latin typeface="Inter"/>
              </a:rPr>
              <a:t>Đàm Anh Pháp - 23010360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5753100"/>
            <a:ext cx="4071937" cy="2952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950" b="1" i="0" u="none">
                <a:solidFill>
                  <a:srgbClr val="000000"/>
                </a:solidFill>
                <a:latin typeface="Inter"/>
              </a:rPr>
              <a:t>Bùi Văn Đại - 23010366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81550" y="5067300"/>
            <a:ext cx="2655093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555555"/>
                </a:solidFill>
                <a:latin typeface="Inter"/>
              </a:rPr>
              <a:t>GIẢNG VIÊN HƯỚNG DẪN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81550" y="5381625"/>
            <a:ext cx="2655093" cy="2952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950" b="1" i="0" u="none">
                <a:solidFill>
                  <a:srgbClr val="000000"/>
                </a:solidFill>
                <a:latin typeface="Inter"/>
              </a:rPr>
              <a:t>Mai Xuân Tráng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81550" y="5753100"/>
            <a:ext cx="2655093" cy="2952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950" b="1" i="0" u="none">
                <a:solidFill>
                  <a:srgbClr val="000000"/>
                </a:solidFill>
                <a:latin typeface="Inter"/>
              </a:rPr>
              <a:t>Nguyễn Chí Công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09600" y="1190625"/>
            <a:ext cx="4505325" cy="381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09600" y="2682478"/>
            <a:ext cx="3403550" cy="2721768"/>
          </a:xfrm>
          <a:prstGeom prst="rect">
            <a:avLst/>
          </a:prstGeom>
          <a:noFill/>
          <a:ln w="2857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4394150" y="2682478"/>
            <a:ext cx="3403550" cy="2721768"/>
          </a:xfrm>
          <a:prstGeom prst="rect">
            <a:avLst/>
          </a:prstGeom>
          <a:noFill/>
          <a:ln w="2857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8178700" y="2682478"/>
            <a:ext cx="3403699" cy="2721768"/>
          </a:xfrm>
          <a:prstGeom prst="rect">
            <a:avLst/>
          </a:prstGeom>
          <a:noFill/>
          <a:ln w="2857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866775" y="2444353"/>
            <a:ext cx="723900" cy="4857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4651325" y="2444353"/>
            <a:ext cx="781050" cy="4857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8435875" y="2444353"/>
            <a:ext cx="781050" cy="4857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09600" y="457200"/>
            <a:ext cx="4830603" cy="619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600" b="1" i="0" u="none">
                <a:solidFill>
                  <a:srgbClr val="000000"/>
                </a:solidFill>
                <a:latin typeface="Space Grotesk"/>
              </a:rPr>
              <a:t>1. MỤC TIÊU KIỂM THỬ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19175" y="2444353"/>
            <a:ext cx="704850" cy="4857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3000" b="1" i="0" u="none">
                <a:solidFill>
                  <a:srgbClr val="000000"/>
                </a:solidFill>
                <a:latin typeface="Space Grotesk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42975" y="3092053"/>
            <a:ext cx="3592050" cy="3714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400" b="1" i="0" u="none">
                <a:solidFill>
                  <a:srgbClr val="000000"/>
                </a:solidFill>
                <a:latin typeface="Inter"/>
              </a:rPr>
              <a:t>Tính chính xác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42975" y="3654028"/>
            <a:ext cx="2832050" cy="100548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0" i="0" u="none">
                <a:solidFill>
                  <a:srgbClr val="000000"/>
                </a:solidFill>
                <a:latin typeface="Inter"/>
              </a:rPr>
              <a:t>Sử dụng công thức bán lẻ điện 6 bậc của Bộ Công Thương.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03725" y="2444353"/>
            <a:ext cx="762000" cy="4857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3000" b="1" i="0" u="none">
                <a:solidFill>
                  <a:srgbClr val="000000"/>
                </a:solidFill>
                <a:latin typeface="Space Grotesk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27525" y="3092053"/>
            <a:ext cx="3592050" cy="3714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400" b="1" i="0" u="none">
                <a:solidFill>
                  <a:srgbClr val="000000"/>
                </a:solidFill>
                <a:latin typeface="Inter"/>
              </a:rPr>
              <a:t>Bảo mật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27525" y="3654028"/>
            <a:ext cx="2832050" cy="13406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0" i="0" u="none">
                <a:solidFill>
                  <a:srgbClr val="000000"/>
                </a:solidFill>
                <a:latin typeface="Inter"/>
              </a:rPr>
              <a:t>Ẩn thông tin cá nhân của khách hàng được tra cứu và chỉ hiển thị khi nhập SĐT.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88275" y="2444353"/>
            <a:ext cx="762000" cy="4857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3000" b="1" i="0" u="none">
                <a:solidFill>
                  <a:srgbClr val="000000"/>
                </a:solidFill>
                <a:latin typeface="Space Grotesk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12075" y="3092053"/>
            <a:ext cx="3592245" cy="3714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400" b="1" i="0" u="none">
                <a:solidFill>
                  <a:srgbClr val="000000"/>
                </a:solidFill>
                <a:latin typeface="Inter"/>
              </a:rPr>
              <a:t>Hiệu năng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12075" y="3654028"/>
            <a:ext cx="2832199" cy="6703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0" i="0" u="none">
                <a:solidFill>
                  <a:srgbClr val="000000"/>
                </a:solidFill>
                <a:latin typeface="Inter"/>
              </a:rPr>
              <a:t>Phản hồi API &lt; 200ms trên tập dữ liệu 27.580 bản ghi.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09600" y="1190625"/>
            <a:ext cx="4981575" cy="381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09600" y="2879526"/>
            <a:ext cx="3403550" cy="28575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4394150" y="2879526"/>
            <a:ext cx="3403550" cy="28575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8178700" y="2879526"/>
            <a:ext cx="3403699" cy="28575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09600" y="4843462"/>
            <a:ext cx="3403550" cy="28575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4394150" y="4843462"/>
            <a:ext cx="3403550" cy="28575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8178700" y="4843462"/>
            <a:ext cx="3403699" cy="28575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09600" y="457200"/>
            <a:ext cx="5330666" cy="619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600" b="1" i="0" u="none">
                <a:solidFill>
                  <a:srgbClr val="000000"/>
                </a:solidFill>
                <a:latin typeface="Space Grotesk"/>
              </a:rPr>
              <a:t>2. QUY TRÌNH THỰC HIỆN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9600" y="2384226"/>
            <a:ext cx="4254437" cy="4095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3000"/>
              </a:lnSpc>
            </a:pPr>
            <a:r>
              <a:rPr sz="3000" b="1" i="0" u="none">
                <a:solidFill>
                  <a:srgbClr val="000000"/>
                </a:solidFill>
                <a:latin typeface="Space Grotesk"/>
              </a:rPr>
              <a:t>01. Lập kế hoạch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600" y="3098601"/>
            <a:ext cx="3498800" cy="639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sz="1800" b="0" i="0" u="none">
                <a:solidFill>
                  <a:srgbClr val="000000"/>
                </a:solidFill>
                <a:latin typeface="Inter"/>
              </a:rPr>
              <a:t>Soạn thảo Test Plan v1.2, phân chia tài nguyên.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94150" y="2384226"/>
            <a:ext cx="4254437" cy="4095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3000"/>
              </a:lnSpc>
            </a:pPr>
            <a:r>
              <a:rPr sz="3000" b="1" i="0" u="none">
                <a:solidFill>
                  <a:srgbClr val="000000"/>
                </a:solidFill>
                <a:latin typeface="Space Grotesk"/>
              </a:rPr>
              <a:t>02. Rà soát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94150" y="3098601"/>
            <a:ext cx="3498800" cy="639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sz="1800" b="0" i="0" u="none">
                <a:solidFill>
                  <a:srgbClr val="000000"/>
                </a:solidFill>
                <a:latin typeface="Inter"/>
              </a:rPr>
              <a:t>Đối chiếu đặc tả SRS và biểu giá EVN.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78700" y="2384226"/>
            <a:ext cx="4013299" cy="4095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3000"/>
              </a:lnSpc>
            </a:pPr>
            <a:r>
              <a:rPr sz="3000" b="1" i="0" u="none">
                <a:solidFill>
                  <a:srgbClr val="000000"/>
                </a:solidFill>
                <a:latin typeface="Space Grotesk"/>
              </a:rPr>
              <a:t>03. Thiết kế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78700" y="3098601"/>
            <a:ext cx="3498949" cy="639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sz="1800" b="0" i="0" u="none">
                <a:solidFill>
                  <a:srgbClr val="000000"/>
                </a:solidFill>
                <a:latin typeface="Inter"/>
              </a:rPr>
              <a:t>Xây dựng ma trận ca kiểm thử trên Excel.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9600" y="4348162"/>
            <a:ext cx="4254437" cy="4095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3000"/>
              </a:lnSpc>
            </a:pPr>
            <a:r>
              <a:rPr sz="3000" b="1" i="0" u="none">
                <a:solidFill>
                  <a:srgbClr val="000000"/>
                </a:solidFill>
                <a:latin typeface="Space Grotesk"/>
              </a:rPr>
              <a:t>04. Tự động hóa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9600" y="5062537"/>
            <a:ext cx="3498800" cy="639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sz="1800" b="0" i="0" u="none">
                <a:solidFill>
                  <a:srgbClr val="000000"/>
                </a:solidFill>
                <a:latin typeface="Inter"/>
              </a:rPr>
              <a:t>Viết mã nguồn test với Node.js Runner.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94150" y="4348162"/>
            <a:ext cx="4254437" cy="4095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3000"/>
              </a:lnSpc>
            </a:pPr>
            <a:r>
              <a:rPr sz="3000" b="1" i="0" u="none">
                <a:solidFill>
                  <a:srgbClr val="000000"/>
                </a:solidFill>
                <a:latin typeface="Space Grotesk"/>
              </a:rPr>
              <a:t>05. Thực thi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94150" y="5062537"/>
            <a:ext cx="3498800" cy="639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sz="1800" b="0" i="0" u="none">
                <a:solidFill>
                  <a:srgbClr val="000000"/>
                </a:solidFill>
                <a:latin typeface="Inter"/>
              </a:rPr>
              <a:t>Chạy các test tự động và test thủ công UI.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78700" y="4348162"/>
            <a:ext cx="4013299" cy="4095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3000"/>
              </a:lnSpc>
            </a:pPr>
            <a:r>
              <a:rPr sz="3000" b="1" i="0" u="none">
                <a:solidFill>
                  <a:srgbClr val="000000"/>
                </a:solidFill>
                <a:latin typeface="Space Grotesk"/>
              </a:rPr>
              <a:t>06. Đóng gói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78700" y="5062537"/>
            <a:ext cx="4013299" cy="31998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sz="1800" b="0" i="0" u="none">
                <a:solidFill>
                  <a:srgbClr val="000000"/>
                </a:solidFill>
                <a:latin typeface="Inter"/>
              </a:rPr>
              <a:t>Báo cáo nghiệm thu.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09600" y="1190625"/>
            <a:ext cx="5362575" cy="381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09600" y="457200"/>
            <a:ext cx="5730716" cy="619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600" b="1" i="0" u="none">
                <a:solidFill>
                  <a:srgbClr val="000000"/>
                </a:solidFill>
                <a:latin typeface="Space Grotesk"/>
              </a:rPr>
              <a:t>3. PHƯƠNG PHÁP ÁP DỤNG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2755701"/>
            <a:ext cx="6263282" cy="4572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3600"/>
              </a:lnSpc>
            </a:pPr>
            <a:r>
              <a:rPr sz="3600" b="1" i="0" u="none">
                <a:solidFill>
                  <a:srgbClr val="000000"/>
                </a:solidFill>
                <a:latin typeface="Space Grotesk"/>
              </a:rPr>
              <a:t>Hộp Đen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77000" y="2801391"/>
            <a:ext cx="5715000" cy="4572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3600"/>
              </a:lnSpc>
            </a:pPr>
            <a:r>
              <a:rPr sz="3600" b="1" i="0" u="none">
                <a:solidFill>
                  <a:srgbClr val="000000"/>
                </a:solidFill>
                <a:latin typeface="Space Grotesk"/>
              </a:rPr>
              <a:t>Hộp Trắng &amp; Khác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3593901"/>
            <a:ext cx="4867275" cy="639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sz="1800" b="0" i="0" u="none">
                <a:solidFill>
                  <a:srgbClr val="000000"/>
                </a:solidFill>
                <a:latin typeface="Inter"/>
              </a:rPr>
              <a:t>■ </a:t>
            </a:r>
            <a:r>
              <a:rPr sz="1800" b="1" i="0" u="none">
                <a:solidFill>
                  <a:srgbClr val="000000"/>
                </a:solidFill>
                <a:latin typeface="Inter"/>
              </a:rPr>
              <a:t>Giá trị biên (BVA):</a:t>
            </a:r>
            <a:r>
              <a:rPr sz="1800" b="0" i="0" u="none">
                <a:solidFill>
                  <a:srgbClr val="000000"/>
                </a:solidFill>
                <a:latin typeface="Inter"/>
              </a:rPr>
              <a:t> Điểm chuyển bậc 50, 100, 200 kWh.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4462462"/>
            <a:ext cx="4867275" cy="639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sz="1800" b="0" i="0" u="none">
                <a:solidFill>
                  <a:srgbClr val="000000"/>
                </a:solidFill>
                <a:latin typeface="Inter"/>
              </a:rPr>
              <a:t>■ </a:t>
            </a:r>
            <a:r>
              <a:rPr sz="1800" b="1" i="0" u="none">
                <a:solidFill>
                  <a:srgbClr val="000000"/>
                </a:solidFill>
                <a:latin typeface="Inter"/>
              </a:rPr>
              <a:t>Phân vùng (EP):</a:t>
            </a:r>
            <a:r>
              <a:rPr sz="1800" b="0" i="0" u="none">
                <a:solidFill>
                  <a:srgbClr val="000000"/>
                </a:solidFill>
                <a:latin typeface="Inter"/>
              </a:rPr>
              <a:t> Mã KH hợp lệ, mã lỗi, chuỗi rỗng.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77000" y="3639591"/>
            <a:ext cx="5715000" cy="31998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sz="1800" b="0" i="0" u="none">
                <a:solidFill>
                  <a:srgbClr val="000000"/>
                </a:solidFill>
                <a:latin typeface="Inter"/>
              </a:rPr>
              <a:t>■ </a:t>
            </a:r>
            <a:r>
              <a:rPr sz="1800" b="1" i="0" u="none">
                <a:solidFill>
                  <a:srgbClr val="000000"/>
                </a:solidFill>
                <a:latin typeface="Inter"/>
              </a:rPr>
              <a:t>Bao phủ nhánh:</a:t>
            </a:r>
            <a:r>
              <a:rPr sz="1800" b="0" i="0" u="none">
                <a:solidFill>
                  <a:srgbClr val="000000"/>
                </a:solidFill>
                <a:latin typeface="Inter"/>
              </a:rPr>
              <a:t> 6 vòng lặp bậc giá điện.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77000" y="4188172"/>
            <a:ext cx="5715000" cy="31998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sz="1800" b="0" i="0" u="none">
                <a:solidFill>
                  <a:srgbClr val="000000"/>
                </a:solidFill>
                <a:latin typeface="Inter"/>
              </a:rPr>
              <a:t>■ </a:t>
            </a:r>
            <a:r>
              <a:rPr sz="1800" b="1" i="0" u="none">
                <a:solidFill>
                  <a:srgbClr val="000000"/>
                </a:solidFill>
                <a:latin typeface="Inter"/>
              </a:rPr>
              <a:t>Bảo mật:</a:t>
            </a:r>
            <a:r>
              <a:rPr sz="1800" b="0" i="0" u="none">
                <a:solidFill>
                  <a:srgbClr val="000000"/>
                </a:solidFill>
                <a:latin typeface="Inter"/>
              </a:rPr>
              <a:t> Kiểm định payload API qua cURL.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77000" y="4736752"/>
            <a:ext cx="5715000" cy="31998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sz="1800" b="0" i="0" u="none">
                <a:solidFill>
                  <a:srgbClr val="000000"/>
                </a:solidFill>
                <a:latin typeface="Inter"/>
              </a:rPr>
              <a:t>■ </a:t>
            </a:r>
            <a:r>
              <a:rPr sz="1800" b="1" i="0" u="none">
                <a:solidFill>
                  <a:srgbClr val="000000"/>
                </a:solidFill>
                <a:latin typeface="Inter"/>
              </a:rPr>
              <a:t>Hiệu năng:</a:t>
            </a:r>
            <a:r>
              <a:rPr sz="1800" b="0" i="0" u="none">
                <a:solidFill>
                  <a:srgbClr val="000000"/>
                </a:solidFill>
                <a:latin typeface="Inter"/>
              </a:rPr>
              <a:t> Đo độ trễ Dashboard API.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333500" y="4276725"/>
            <a:ext cx="9525000" cy="16573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333500" y="5905500"/>
            <a:ext cx="9525000" cy="28575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1333500" y="4276725"/>
            <a:ext cx="9525000" cy="28575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815828" y="923925"/>
            <a:ext cx="6560343" cy="2105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ts val="16575"/>
              </a:lnSpc>
            </a:pPr>
            <a:r>
              <a:rPr sz="19500" b="1" i="0" u="none">
                <a:solidFill>
                  <a:srgbClr val="000000"/>
                </a:solidFill>
                <a:latin typeface="Space Grotesk"/>
              </a:rPr>
              <a:t>41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815828" y="3028950"/>
            <a:ext cx="6560343" cy="4857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3000" b="1" i="0" u="none">
                <a:solidFill>
                  <a:srgbClr val="000000"/>
                </a:solidFill>
                <a:latin typeface="Space Grotesk"/>
              </a:rPr>
              <a:t>CA KIỂM THỬ TOÀN HỆ THỐNG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407443" y="4686300"/>
            <a:ext cx="2166937" cy="609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ts val="4800"/>
              </a:lnSpc>
            </a:pPr>
            <a:r>
              <a:rPr sz="4800" b="1" i="0" u="none">
                <a:solidFill>
                  <a:srgbClr val="000000"/>
                </a:solidFill>
                <a:latin typeface="Space Grotesk"/>
              </a:rPr>
              <a:t>24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407443" y="5295900"/>
            <a:ext cx="2166937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500" b="1" i="0" u="none">
                <a:solidFill>
                  <a:srgbClr val="000000"/>
                </a:solidFill>
                <a:latin typeface="Inter"/>
              </a:rPr>
              <a:t>CA TỰ ĐỘNG (API)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900612" y="4686300"/>
            <a:ext cx="2190750" cy="609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ts val="4800"/>
              </a:lnSpc>
            </a:pPr>
            <a:r>
              <a:rPr sz="4800" b="1" i="0" u="none">
                <a:solidFill>
                  <a:srgbClr val="000000"/>
                </a:solidFill>
                <a:latin typeface="Space Grotesk"/>
              </a:rPr>
              <a:t>17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900612" y="5295900"/>
            <a:ext cx="2190750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500" b="1" i="0" u="none">
                <a:solidFill>
                  <a:srgbClr val="000000"/>
                </a:solidFill>
                <a:latin typeface="Inter"/>
              </a:rPr>
              <a:t>CA THỦ CÔNG (UI)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92590" y="4686300"/>
            <a:ext cx="2416968" cy="609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ts val="4800"/>
              </a:lnSpc>
            </a:pPr>
            <a:r>
              <a:rPr sz="4800" b="1" i="0" u="none">
                <a:solidFill>
                  <a:srgbClr val="000000"/>
                </a:solidFill>
                <a:latin typeface="Space Grotesk"/>
              </a:rPr>
              <a:t>100%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92590" y="5295900"/>
            <a:ext cx="2416968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500" b="1" i="0" u="none">
                <a:solidFill>
                  <a:srgbClr val="000000"/>
                </a:solidFill>
                <a:latin typeface="Inter"/>
              </a:rPr>
              <a:t>TỶ LỆ ĐẠT (PASSED)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09600" y="1190625"/>
            <a:ext cx="6438900" cy="381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2790825"/>
            <a:ext cx="533400" cy="6096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94150" y="2790825"/>
            <a:ext cx="609600" cy="6096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78700" y="2790825"/>
            <a:ext cx="457200" cy="6096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09600" y="457200"/>
            <a:ext cx="6860857" cy="619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600" b="1" i="0" u="none">
                <a:solidFill>
                  <a:srgbClr val="000000"/>
                </a:solidFill>
                <a:latin typeface="Space Grotesk"/>
              </a:rPr>
              <a:t>4. PHÂN HỆ: CỔNG KHÁCH HÀNG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3705225"/>
            <a:ext cx="4467159" cy="3714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400" b="1" i="0" u="none">
                <a:solidFill>
                  <a:srgbClr val="000000"/>
                </a:solidFill>
                <a:latin typeface="Inter"/>
              </a:rPr>
              <a:t>Tra cứu ẩn danh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4267200"/>
            <a:ext cx="3498800" cy="1028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sz="1800" b="0" i="0" u="none">
                <a:solidFill>
                  <a:srgbClr val="000000"/>
                </a:solidFill>
                <a:latin typeface="Inter"/>
              </a:rPr>
              <a:t>Giấu hoàn toàn SĐT, địa chỉ và mã công tơ trong API response.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94150" y="3705225"/>
            <a:ext cx="4467159" cy="3714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400" b="1" i="0" u="none">
                <a:solidFill>
                  <a:srgbClr val="000000"/>
                </a:solidFill>
                <a:latin typeface="Inter"/>
              </a:rPr>
              <a:t>Xác thực SĐT 2 lớp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94150" y="4267200"/>
            <a:ext cx="349880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sz="1800" b="0" i="0" u="none">
                <a:solidFill>
                  <a:srgbClr val="000000"/>
                </a:solidFill>
                <a:latin typeface="Inter"/>
              </a:rPr>
              <a:t>Nhập đúng SĐT chính chủ để mở khóa 17 kỳ hóa đơn.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78700" y="3705225"/>
            <a:ext cx="4013299" cy="3714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400" b="1" i="0" u="none">
                <a:solidFill>
                  <a:srgbClr val="000000"/>
                </a:solidFill>
                <a:latin typeface="Inter"/>
              </a:rPr>
              <a:t>Chi tiết đơn giá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78700" y="4267200"/>
            <a:ext cx="3498949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sz="1800" b="0" i="0" u="none">
                <a:solidFill>
                  <a:srgbClr val="000000"/>
                </a:solidFill>
                <a:latin typeface="Inter"/>
              </a:rPr>
              <a:t>Chia 6 bậc giá và kiểm tra độ lệch VAT 8%.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09600" y="1190625"/>
            <a:ext cx="5657850" cy="381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09600" y="4176712"/>
            <a:ext cx="5257800" cy="2019300"/>
          </a:xfrm>
          <a:prstGeom prst="rect">
            <a:avLst/>
          </a:prstGeom>
          <a:solidFill>
            <a:srgbClr val="FAFAFA"/>
          </a:solidFill>
          <a:ln w="2857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942975" y="5529262"/>
            <a:ext cx="4591050" cy="1905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09600" y="457200"/>
            <a:ext cx="6040755" cy="619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600" b="1" i="0" u="none">
                <a:solidFill>
                  <a:srgbClr val="000000"/>
                </a:solidFill>
                <a:latin typeface="Space Grotesk"/>
              </a:rPr>
              <a:t>5. PHÂN HỆ: CỔNG QUẢN TRỊ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1890712"/>
            <a:ext cx="6572250" cy="15240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2000"/>
              </a:lnSpc>
            </a:pPr>
            <a:r>
              <a:rPr sz="12000" b="1" i="0" u="none">
                <a:solidFill>
                  <a:srgbClr val="000000"/>
                </a:solidFill>
                <a:latin typeface="Space Grotesk"/>
              </a:rPr>
              <a:t>06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3414712"/>
            <a:ext cx="6572250" cy="3810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400" b="1" i="0" u="none">
                <a:solidFill>
                  <a:srgbClr val="000000"/>
                </a:solidFill>
                <a:latin typeface="Space Grotesk"/>
              </a:rPr>
              <a:t>BẬC ĐIỆN TÍNH TIỀN LŨY KẾ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42975" y="4510087"/>
            <a:ext cx="5738812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000000"/>
                </a:solidFill>
                <a:latin typeface="monospace"/>
              </a:rPr>
              <a:t>UNIT TEST 250 kWh: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2975" y="4900612"/>
            <a:ext cx="5738812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50" b="0" i="0" u="none">
                <a:solidFill>
                  <a:srgbClr val="000000"/>
                </a:solidFill>
                <a:latin typeface="monospace"/>
              </a:rPr>
              <a:t>Tiền điện = 562.550 đ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42975" y="5214937"/>
            <a:ext cx="5738812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50" b="0" i="0" u="none">
                <a:solidFill>
                  <a:srgbClr val="000000"/>
                </a:solidFill>
                <a:latin typeface="monospace"/>
              </a:rPr>
              <a:t>+ VAT 8% = 45.004 đ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42975" y="5605462"/>
            <a:ext cx="4686300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0" i="0" u="none">
                <a:solidFill>
                  <a:srgbClr val="000000"/>
                </a:solidFill>
                <a:latin typeface="monospace"/>
              </a:rPr>
              <a:t>Tổng = 607.554 đ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24600" y="2205186"/>
            <a:ext cx="5353050" cy="74280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sz="2100" b="1" i="0" u="none">
                <a:solidFill>
                  <a:srgbClr val="000000"/>
                </a:solidFill>
                <a:latin typeface="Inter"/>
              </a:rPr>
              <a:t>■ 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24600" y="3557587"/>
            <a:ext cx="5353050" cy="74280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sz="2100" b="1" i="0" u="none">
                <a:solidFill>
                  <a:srgbClr val="000000"/>
                </a:solidFill>
                <a:latin typeface="Inter"/>
              </a:rPr>
              <a:t>■ 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24600" y="4909988"/>
            <a:ext cx="5353050" cy="74280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sz="2100" b="1" i="0" u="none">
                <a:solidFill>
                  <a:srgbClr val="000000"/>
                </a:solidFill>
                <a:latin typeface="Inter"/>
              </a:rPr>
              <a:t>■ 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0584" y="2205186"/>
            <a:ext cx="5611415" cy="37326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940"/>
              </a:lnSpc>
            </a:pPr>
            <a:r>
              <a:rPr sz="2100" b="1" i="0" u="none">
                <a:solidFill>
                  <a:srgbClr val="000000"/>
                </a:solidFill>
                <a:latin typeface="Inter"/>
              </a:rPr>
              <a:t>Quản lý dữ liệu (CRUD)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0584" y="2654647"/>
            <a:ext cx="5611415" cy="2933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310"/>
              </a:lnSpc>
            </a:pPr>
            <a:r>
              <a:rPr sz="1650" b="0" i="0" u="none">
                <a:solidFill>
                  <a:srgbClr val="000000"/>
                </a:solidFill>
                <a:latin typeface="Inter"/>
              </a:rPr>
              <a:t>Phân trang 50 bản ghi, bắt lỗi trùng mã công tơ.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0584" y="3557587"/>
            <a:ext cx="4263032" cy="37326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940"/>
              </a:lnSpc>
            </a:pPr>
            <a:r>
              <a:rPr sz="2100" b="1" i="0" u="none">
                <a:solidFill>
                  <a:srgbClr val="000000"/>
                </a:solidFill>
                <a:latin typeface="Inter"/>
              </a:rPr>
              <a:t>Tìm kiếm thông minh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0584" y="4007048"/>
            <a:ext cx="4060031" cy="2933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310"/>
              </a:lnSpc>
            </a:pPr>
            <a:r>
              <a:rPr sz="1650" b="0" i="0" u="none">
                <a:solidFill>
                  <a:srgbClr val="000000"/>
                </a:solidFill>
                <a:latin typeface="Inter"/>
              </a:rPr>
              <a:t>Hỗ trợ Unicode tiếng Việt có dấu.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0584" y="4909988"/>
            <a:ext cx="5611415" cy="37326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940"/>
              </a:lnSpc>
            </a:pPr>
            <a:r>
              <a:rPr sz="2100" b="1" i="0" u="none">
                <a:solidFill>
                  <a:srgbClr val="000000"/>
                </a:solidFill>
                <a:latin typeface="Inter"/>
              </a:rPr>
              <a:t>Cấu hình biểu giá động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0584" y="5359449"/>
            <a:ext cx="5611415" cy="2933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310"/>
              </a:lnSpc>
            </a:pPr>
            <a:r>
              <a:rPr sz="1650" b="0" i="0" u="none">
                <a:solidFill>
                  <a:srgbClr val="000000"/>
                </a:solidFill>
                <a:latin typeface="Inter"/>
              </a:rPr>
              <a:t>Tự động tính lại khi thay đổi mức VAT và đơn giá.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09600" y="1190625"/>
            <a:ext cx="3057525" cy="381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09600" y="4695825"/>
            <a:ext cx="3403550" cy="1552575"/>
          </a:xfrm>
          <a:prstGeom prst="rect">
            <a:avLst/>
          </a:prstGeom>
          <a:noFill/>
          <a:ln w="2857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4394150" y="4695825"/>
            <a:ext cx="3403550" cy="1552575"/>
          </a:xfrm>
          <a:prstGeom prst="rect">
            <a:avLst/>
          </a:prstGeom>
          <a:noFill/>
          <a:ln w="2857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8178700" y="4695825"/>
            <a:ext cx="3403550" cy="1552575"/>
          </a:xfrm>
          <a:prstGeom prst="rect">
            <a:avLst/>
          </a:prstGeom>
          <a:noFill/>
          <a:ln w="2857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09600" y="457200"/>
            <a:ext cx="3310413" cy="619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600" b="1" i="0" u="none">
                <a:solidFill>
                  <a:srgbClr val="000000"/>
                </a:solidFill>
                <a:latin typeface="Space Grotesk"/>
              </a:rPr>
              <a:t>6. DASHBOARD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62187" y="1838325"/>
            <a:ext cx="7667625" cy="1714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ts val="13500"/>
              </a:lnSpc>
            </a:pPr>
            <a:r>
              <a:rPr sz="15000" b="1" i="0" u="none">
                <a:solidFill>
                  <a:srgbClr val="000000"/>
                </a:solidFill>
                <a:latin typeface="Space Grotesk"/>
              </a:rPr>
              <a:t>27.580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62187" y="3552825"/>
            <a:ext cx="7667625" cy="3810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2400" b="1" i="0" u="none">
                <a:solidFill>
                  <a:srgbClr val="000000"/>
                </a:solidFill>
                <a:latin typeface="Space Grotesk"/>
              </a:rPr>
              <a:t>BẢN GHI DỮ LIỆU QUA 49 KỲ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2975" y="5029200"/>
            <a:ext cx="3421000" cy="4572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3600"/>
              </a:lnSpc>
            </a:pPr>
            <a:r>
              <a:rPr sz="3600" b="1" i="0" u="none">
                <a:solidFill>
                  <a:srgbClr val="000000"/>
                </a:solidFill>
                <a:latin typeface="Space Grotesk"/>
              </a:rPr>
              <a:t>05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42975" y="5638800"/>
            <a:ext cx="3421000" cy="2762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000000"/>
                </a:solidFill>
                <a:latin typeface="Inter"/>
              </a:rPr>
              <a:t>Chỉ số Bento KPI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27525" y="5029200"/>
            <a:ext cx="3421000" cy="4572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3600"/>
              </a:lnSpc>
            </a:pPr>
            <a:r>
              <a:rPr sz="3600" b="1" i="0" u="none">
                <a:solidFill>
                  <a:srgbClr val="000000"/>
                </a:solidFill>
                <a:latin typeface="Space Grotesk"/>
              </a:rPr>
              <a:t>04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27525" y="5638800"/>
            <a:ext cx="3421000" cy="2762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000000"/>
                </a:solidFill>
                <a:latin typeface="Inter"/>
              </a:rPr>
              <a:t>Biểu đồ Chart.js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12075" y="5029200"/>
            <a:ext cx="3421000" cy="4572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3600"/>
              </a:lnSpc>
            </a:pPr>
            <a:r>
              <a:rPr sz="3600" b="1" i="0" u="none">
                <a:solidFill>
                  <a:srgbClr val="000000"/>
                </a:solidFill>
                <a:latin typeface="Space Grotesk"/>
              </a:rPr>
              <a:t>20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12075" y="5638800"/>
            <a:ext cx="3421000" cy="2762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000000"/>
                </a:solidFill>
                <a:latin typeface="Inter"/>
              </a:rPr>
              <a:t>Khách hàng nợ cước lớn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09600" y="1190625"/>
            <a:ext cx="5114925" cy="381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09600" y="1685925"/>
            <a:ext cx="5257800" cy="4714875"/>
          </a:xfrm>
          <a:prstGeom prst="rect">
            <a:avLst/>
          </a:prstGeom>
          <a:noFill/>
          <a:ln w="2857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6324600" y="1685925"/>
            <a:ext cx="5257800" cy="4714875"/>
          </a:xfrm>
          <a:prstGeom prst="rect">
            <a:avLst/>
          </a:prstGeom>
          <a:noFill/>
          <a:ln w="2857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1095375" y="2781300"/>
            <a:ext cx="4286250" cy="28575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810375" y="2781300"/>
            <a:ext cx="4286250" cy="28575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09600" y="457200"/>
            <a:ext cx="6111711" cy="5539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3600" b="1" i="0" u="none" dirty="0">
                <a:solidFill>
                  <a:srgbClr val="000000"/>
                </a:solidFill>
                <a:latin typeface="Space Grotesk"/>
              </a:rPr>
              <a:t>7. </a:t>
            </a:r>
            <a:r>
              <a:rPr sz="3600" b="1" i="0" u="none" dirty="0">
                <a:solidFill>
                  <a:srgbClr val="000000"/>
                </a:solidFill>
                <a:latin typeface="Space Grotesk"/>
              </a:rPr>
              <a:t>THANH TOÁN &amp; GIAO DIỆN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5375" y="2171700"/>
            <a:ext cx="4600575" cy="4095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3000"/>
              </a:lnSpc>
            </a:pPr>
            <a:r>
              <a:rPr sz="3000" b="1" i="0" u="none">
                <a:solidFill>
                  <a:srgbClr val="000000"/>
                </a:solidFill>
                <a:latin typeface="Space Grotesk"/>
              </a:rPr>
              <a:t>Cổng Thanh Toán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10375" y="2171700"/>
            <a:ext cx="4600575" cy="4095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3000"/>
              </a:lnSpc>
            </a:pPr>
            <a:r>
              <a:rPr sz="3000" b="1" i="0" u="none">
                <a:solidFill>
                  <a:srgbClr val="000000"/>
                </a:solidFill>
                <a:latin typeface="Space Grotesk"/>
              </a:rPr>
              <a:t>Giao diện Flat UI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5375" y="3190875"/>
            <a:ext cx="4381500" cy="639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sz="1800" b="0" i="0" u="none">
                <a:solidFill>
                  <a:srgbClr val="000000"/>
                </a:solidFill>
                <a:latin typeface="Inter"/>
              </a:rPr>
              <a:t>■ </a:t>
            </a:r>
            <a:r>
              <a:rPr sz="1800" b="1" i="0" u="none">
                <a:solidFill>
                  <a:srgbClr val="000000"/>
                </a:solidFill>
                <a:latin typeface="Inter"/>
              </a:rPr>
              <a:t>PayOS VietQR:</a:t>
            </a:r>
            <a:r>
              <a:rPr sz="1800" b="0" i="0" u="none">
                <a:solidFill>
                  <a:srgbClr val="000000"/>
                </a:solidFill>
                <a:latin typeface="Inter"/>
              </a:rPr>
              <a:t> Quét mã trực tiếp qua App ngân hàng.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10375" y="3190875"/>
            <a:ext cx="4381500" cy="639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sz="1800" b="0" i="0" u="none">
                <a:solidFill>
                  <a:srgbClr val="000000"/>
                </a:solidFill>
                <a:latin typeface="Inter"/>
              </a:rPr>
              <a:t>■ </a:t>
            </a:r>
            <a:r>
              <a:rPr sz="1800" b="1" i="0" u="none">
                <a:solidFill>
                  <a:srgbClr val="000000"/>
                </a:solidFill>
                <a:latin typeface="Inter"/>
              </a:rPr>
              <a:t>Font kỹ thuật:</a:t>
            </a:r>
            <a:r>
              <a:rPr sz="1800" b="0" i="0" u="none">
                <a:solidFill>
                  <a:srgbClr val="000000"/>
                </a:solidFill>
                <a:latin typeface="Inter"/>
              </a:rPr>
              <a:t> Geist &amp; JetBrains Mono (căn số thẳng hàng).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10375" y="4059435"/>
            <a:ext cx="4381500" cy="639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sz="1800" b="0" i="0" u="none">
                <a:solidFill>
                  <a:srgbClr val="000000"/>
                </a:solidFill>
                <a:latin typeface="Inter"/>
              </a:rPr>
              <a:t>■ </a:t>
            </a:r>
            <a:r>
              <a:rPr sz="1800" b="1" i="0" u="none">
                <a:solidFill>
                  <a:srgbClr val="000000"/>
                </a:solidFill>
                <a:latin typeface="Inter"/>
              </a:rPr>
              <a:t>Màu Pastel:</a:t>
            </a:r>
            <a:r>
              <a:rPr sz="1800" b="0" i="0" u="none">
                <a:solidFill>
                  <a:srgbClr val="000000"/>
                </a:solidFill>
                <a:latin typeface="Inter"/>
              </a:rPr>
              <a:t> Xanh (Đã thanh toán), Vàng (Chưa đóng).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10375" y="4927996"/>
            <a:ext cx="4381500" cy="639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sz="1800" b="0" i="0" u="none">
                <a:solidFill>
                  <a:srgbClr val="000000"/>
                </a:solidFill>
                <a:latin typeface="Inter"/>
              </a:rPr>
              <a:t>■ </a:t>
            </a:r>
            <a:r>
              <a:rPr sz="1800" b="1" i="0" u="none">
                <a:solidFill>
                  <a:srgbClr val="000000"/>
                </a:solidFill>
                <a:latin typeface="Inter"/>
              </a:rPr>
              <a:t>Độ nhất quán:</a:t>
            </a:r>
            <a:r>
              <a:rPr sz="1800" b="0" i="0" u="none">
                <a:solidFill>
                  <a:srgbClr val="000000"/>
                </a:solidFill>
                <a:latin typeface="Inter"/>
              </a:rPr>
              <a:t> Viền phẳng tối giản #EAEAEA.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09600" y="1190625"/>
            <a:ext cx="4933950" cy="381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324600" y="2173337"/>
            <a:ext cx="5257800" cy="3848100"/>
          </a:xfrm>
          <a:prstGeom prst="rect">
            <a:avLst/>
          </a:prstGeom>
          <a:noFill/>
          <a:ln w="381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09599" y="457200"/>
            <a:ext cx="5863827" cy="5539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3600" b="1" i="0" u="none" dirty="0">
                <a:solidFill>
                  <a:srgbClr val="000000"/>
                </a:solidFill>
                <a:latin typeface="Space Grotesk"/>
              </a:rPr>
              <a:t>8. </a:t>
            </a:r>
            <a:r>
              <a:rPr sz="3600" b="1" i="0" u="none" dirty="0">
                <a:solidFill>
                  <a:srgbClr val="000000"/>
                </a:solidFill>
                <a:latin typeface="Space Grotesk"/>
              </a:rPr>
              <a:t>TỰ ĐỘNG HÓA KIỂM THỬ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91250" y="2973437"/>
            <a:ext cx="5524500" cy="1333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ts val="10500"/>
              </a:lnSpc>
            </a:pPr>
            <a:r>
              <a:rPr sz="10500" b="1" i="0" u="none">
                <a:solidFill>
                  <a:srgbClr val="000000"/>
                </a:solidFill>
                <a:latin typeface="Space Grotesk"/>
              </a:rPr>
              <a:t>~2.6s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91250" y="4535537"/>
            <a:ext cx="552450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100" b="1" i="0" u="none">
                <a:solidFill>
                  <a:srgbClr val="000000"/>
                </a:solidFill>
                <a:latin typeface="Space Grotesk"/>
              </a:rPr>
              <a:t>THỜI GIAN THỰC THI 23 KỊCH BẢN TEST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1685925"/>
            <a:ext cx="5353050" cy="118095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sz="2400" b="1" i="0" u="none">
                <a:solidFill>
                  <a:srgbClr val="000000"/>
                </a:solidFill>
                <a:latin typeface="Inter"/>
              </a:rPr>
              <a:t>■ 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3552676"/>
            <a:ext cx="5353050" cy="118095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sz="2400" b="1" i="0" u="none">
                <a:solidFill>
                  <a:srgbClr val="000000"/>
                </a:solidFill>
                <a:latin typeface="Inter"/>
              </a:rPr>
              <a:t>■ 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5419427"/>
            <a:ext cx="5353050" cy="8609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sz="2400" b="1" i="0" u="none">
                <a:solidFill>
                  <a:srgbClr val="000000"/>
                </a:solidFill>
                <a:latin typeface="Inter"/>
              </a:rPr>
              <a:t>■ 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5584" y="1685925"/>
            <a:ext cx="6564883" cy="42669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3359"/>
              </a:lnSpc>
            </a:pPr>
            <a:r>
              <a:rPr sz="2400" b="1" i="0" u="none">
                <a:solidFill>
                  <a:srgbClr val="000000"/>
                </a:solidFill>
                <a:latin typeface="Inter"/>
              </a:rPr>
              <a:t>Node.js Native Runner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5584" y="2226915"/>
            <a:ext cx="5097065" cy="639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sz="1800" b="0" i="0" u="none">
                <a:solidFill>
                  <a:srgbClr val="000000"/>
                </a:solidFill>
                <a:latin typeface="Inter"/>
              </a:rPr>
              <a:t>Khởi động tức thì, không phụ thuộc Jest/Mocha.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5584" y="3552676"/>
            <a:ext cx="6564883" cy="42669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3359"/>
              </a:lnSpc>
            </a:pPr>
            <a:r>
              <a:rPr sz="2400" b="1" i="0" u="none">
                <a:solidFill>
                  <a:srgbClr val="000000"/>
                </a:solidFill>
                <a:latin typeface="Inter"/>
              </a:rPr>
              <a:t>Tối ưu hóa SQLite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5584" y="4093666"/>
            <a:ext cx="5097065" cy="639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sz="1800" b="0" i="0" u="none">
                <a:solidFill>
                  <a:srgbClr val="000000"/>
                </a:solidFill>
                <a:latin typeface="Inter"/>
              </a:rPr>
              <a:t>Cấu hình concurrency=1 tránh lỗi khóa database.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5584" y="5419427"/>
            <a:ext cx="5888235" cy="42669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3359"/>
              </a:lnSpc>
            </a:pPr>
            <a:r>
              <a:rPr sz="2400" b="1" i="0" u="none">
                <a:solidFill>
                  <a:srgbClr val="000000"/>
                </a:solidFill>
                <a:latin typeface="Inter"/>
              </a:rPr>
              <a:t>Cấu trúc độc lập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5584" y="5960417"/>
            <a:ext cx="5607843" cy="31998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sz="1800" b="0" i="0" u="none">
                <a:solidFill>
                  <a:srgbClr val="000000"/>
                </a:solidFill>
                <a:latin typeface="Inter"/>
              </a:rPr>
              <a:t>Phân tách rõ module Customer và Admin.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09600" y="1190625"/>
            <a:ext cx="4981575" cy="381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09600" y="2724150"/>
            <a:ext cx="3352800" cy="155257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4419600" y="2724150"/>
            <a:ext cx="3352800" cy="155257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8229600" y="2724150"/>
            <a:ext cx="3352800" cy="155257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09600" y="4238625"/>
            <a:ext cx="3352800" cy="381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4419600" y="4238625"/>
            <a:ext cx="3352800" cy="381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8229600" y="4238625"/>
            <a:ext cx="3352800" cy="381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09600" y="457200"/>
            <a:ext cx="5913748" cy="5539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3600" b="1" i="0" u="none" dirty="0">
                <a:solidFill>
                  <a:srgbClr val="000000"/>
                </a:solidFill>
                <a:latin typeface="Space Grotesk"/>
              </a:rPr>
              <a:t>9. </a:t>
            </a:r>
            <a:r>
              <a:rPr sz="3600" b="1" i="0" u="none" dirty="0">
                <a:solidFill>
                  <a:srgbClr val="000000"/>
                </a:solidFill>
                <a:latin typeface="Space Grotesk"/>
              </a:rPr>
              <a:t>NGHIỆM THU &amp; BÀN GIAO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8510" y="5038725"/>
            <a:ext cx="3642382" cy="3238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100" b="1" i="0" u="none">
                <a:solidFill>
                  <a:srgbClr val="000000"/>
                </a:solidFill>
                <a:latin typeface="Inter"/>
              </a:rPr>
              <a:t>■ Đặc tả yêu cầu (SRS)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10385" y="5038725"/>
            <a:ext cx="5142569" cy="3238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100" b="1" i="0" u="none">
                <a:solidFill>
                  <a:srgbClr val="000000"/>
                </a:solidFill>
                <a:latin typeface="Inter"/>
              </a:rPr>
              <a:t>■ Kế hoạch kiểm thử (Test Plan)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282410" y="5038725"/>
            <a:ext cx="2463663" cy="3238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100" b="1" i="0" u="none">
                <a:solidFill>
                  <a:srgbClr val="000000"/>
                </a:solidFill>
                <a:latin typeface="Inter"/>
              </a:rPr>
              <a:t>■ Ma trận Excel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9600" y="2724150"/>
            <a:ext cx="4191000" cy="7620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6000"/>
              </a:lnSpc>
            </a:pPr>
            <a:r>
              <a:rPr sz="6000" b="1" i="0" u="none">
                <a:solidFill>
                  <a:srgbClr val="000000"/>
                </a:solidFill>
                <a:latin typeface="Space Grotesk"/>
              </a:rPr>
              <a:t>100%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9600" y="3638550"/>
            <a:ext cx="4191000" cy="2952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950" b="1" i="0" u="none">
                <a:solidFill>
                  <a:srgbClr val="000000"/>
                </a:solidFill>
                <a:latin typeface="Inter"/>
              </a:rPr>
              <a:t>Ca kiểm thử Passed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19600" y="2724150"/>
            <a:ext cx="4191000" cy="7620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6000"/>
              </a:lnSpc>
            </a:pPr>
            <a:r>
              <a:rPr sz="6000" b="1" i="0" u="none">
                <a:solidFill>
                  <a:srgbClr val="000000"/>
                </a:solidFill>
                <a:latin typeface="Space Grotesk"/>
              </a:rPr>
              <a:t>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19600" y="3638550"/>
            <a:ext cx="4191000" cy="2952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950" b="1" i="0" u="none">
                <a:solidFill>
                  <a:srgbClr val="000000"/>
                </a:solidFill>
                <a:latin typeface="Inter"/>
              </a:rPr>
              <a:t>Lỗi mức độ Critical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0" y="2724150"/>
            <a:ext cx="3962400" cy="7620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6000"/>
              </a:lnSpc>
            </a:pPr>
            <a:r>
              <a:rPr sz="6000" b="1" i="0" u="none">
                <a:solidFill>
                  <a:srgbClr val="000000"/>
                </a:solidFill>
                <a:latin typeface="Space Grotesk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0" y="3638550"/>
            <a:ext cx="3962400" cy="2952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950" b="1" i="0" u="none">
                <a:solidFill>
                  <a:srgbClr val="000000"/>
                </a:solidFill>
                <a:latin typeface="Inter"/>
              </a:rPr>
              <a:t>Bộ tài liệu bàn giao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45281" y="2514600"/>
            <a:ext cx="11501437" cy="1828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7200"/>
              </a:lnSpc>
            </a:pPr>
            <a:r>
              <a:rPr sz="6000" b="1" i="0" u="none">
                <a:solidFill>
                  <a:srgbClr val="000000"/>
                </a:solidFill>
                <a:latin typeface="Space Grotesk"/>
              </a:rPr>
              <a:t>Cảm ơn thầy và các bạn</a:t>
            </a:r>
            <a:r>
              <a:t>
</a:t>
            </a:r>
            <a:r>
              <a:rPr sz="6000" b="1" i="0" u="none">
                <a:solidFill>
                  <a:srgbClr val="000000"/>
                </a:solidFill>
                <a:latin typeface="Space Grotesk"/>
              </a:rPr>
              <a:t> đã lắng nghe!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667</Words>
  <Application>Microsoft Office PowerPoint</Application>
  <PresentationFormat>Widescreen</PresentationFormat>
  <Paragraphs>109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8" baseType="lpstr">
      <vt:lpstr>Calibri</vt:lpstr>
      <vt:lpstr>Space Grotesk</vt:lpstr>
      <vt:lpstr>Inter</vt:lpstr>
      <vt:lpstr>monospace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Dam Anh Phap</cp:lastModifiedBy>
  <cp:revision>2</cp:revision>
  <dcterms:created xsi:type="dcterms:W3CDTF">2013-01-27T09:14:16Z</dcterms:created>
  <dcterms:modified xsi:type="dcterms:W3CDTF">2026-10-22T04:44:54Z</dcterms:modified>
  <cp:category/>
</cp:coreProperties>
</file>